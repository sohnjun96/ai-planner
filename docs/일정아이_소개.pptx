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일정아이 소개. 로컬에 저장되고 자연어로 움직이는 업무 플래너. React 19 + TypeScript, Dexie(IndexedDB) 기반 SPA이자 Chrome 확장.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업무의 통증 4가지를 짚고, 해법의 한 줄 요약으로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월간 보기. 상태별 색 구분, 날짜 클릭 시 그 날 일정, 우클릭 빠른 처리.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마크다운 노트, 자동 제목/분류, 스택 이어보기, 자동 저장, 일정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자연어 → 초안(바로 저장 안 함) + 재사용 규칙 제안. 규칙은 user.md에 저장되어 자동 적용.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Q&amp;A: 검색해서 답, 참고 칩으로 이동, 도구 호출 내역 표시. 제목 카탈로그를 함께 실어 도구 없이도 답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JSON-in-prompt 방식의 도구 호출 루프(최대 4라운드). 4개 에이전트가 공용 인프라를 공유. 네이티브 function calling 불필요 → 로컬 모델 호환.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로컬 우선(IndexedDB), JSON 내보내기/되돌리기, AI 토큰 사용량 집계. 설정의 통계 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클로징: 제품 철학 한 줄과 저장소 링크.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7315200" cy="7315200"/>
          </a:xfrm>
          <a:prstGeom prst="ellipse">
            <a:avLst/>
          </a:prstGeom>
          <a:solidFill>
            <a:srgbClr val="6C5CE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3108960"/>
            <a:ext cx="5486400" cy="5486400"/>
          </a:xfrm>
          <a:prstGeom prst="ellipse">
            <a:avLst/>
          </a:prstGeom>
          <a:solidFill>
            <a:srgbClr val="4A3FB5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371600"/>
            <a:ext cx="786384" cy="786384"/>
          </a:xfrm>
          <a:prstGeom prst="roundRect">
            <a:avLst>
              <a:gd name="adj" fmla="val 18605"/>
            </a:avLst>
          </a:prstGeom>
          <a:solidFill>
            <a:srgbClr val="6C5CE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37160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일정아이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7A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말하면 정리되는 업무 플래너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443484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달력 · 노트 · 프로젝트를 한곳에서 관리하고, 자연어로 일정을 넣고 내 데이터에 질문하는 로컬 우선 플래너.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7A7A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  ·  TypeScript  ·  IndexedDB  ·  Local-first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앱을 옮겨 다니지 않아도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566928" cy="56692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61" y="220480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202996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성격이 다른 일정이 섞인다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600200" y="23865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제출·회의·점심·연가·출장이 뒤섞이면 우선순위를 놓친다.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3081528"/>
            <a:ext cx="566928" cy="56692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361" y="3228929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00200" y="305409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지나간 일이 오늘을 가린다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600200" y="34107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완료·취소된 일이 지금 할 일 위로 겹쳐 보인다.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22960" y="4105656"/>
            <a:ext cx="566928" cy="56692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4253057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00200" y="407822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규칙을 매번 입력한다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600200" y="4434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"점심은 11:30, 제출은 18:00" 같은 습관을 손으로 반복한다.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2960" y="5129784"/>
            <a:ext cx="566928" cy="56692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61" y="5277185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00200" y="510235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폼은 여전히 번거롭다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600200" y="545896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"내일 10시에 보고서 제출"이라고 말하고 싶다.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2440" y="1965960"/>
            <a:ext cx="3337560" cy="3566160"/>
          </a:xfrm>
          <a:prstGeom prst="roundRect">
            <a:avLst>
              <a:gd name="adj" fmla="val 3836"/>
            </a:avLst>
          </a:prstGeom>
          <a:solidFill>
            <a:srgbClr val="F1EFFC"/>
          </a:solidFill>
          <a:ln/>
          <a:effectLst>
            <a:outerShdw sx="100000" sy="100000" kx="0" ky="0" algn="bl" rotWithShape="0" blurRad="152400" dist="50800" dir="5400000">
              <a:srgbClr val="16172A">
                <a:alpha val="10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841248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3F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8412480" y="28346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700" b="1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말하면 </a:t>
            </a:r>
            <a:pPr indent="0" marL="0">
              <a:lnSpc>
                <a:spcPct val="132000"/>
              </a:lnSpc>
              <a:buNone/>
            </a:pPr>
            <a:r>
              <a:rPr lang="en-US" sz="17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초안이 나오고,</a:t>
            </a:r>
            <a:endParaRPr lang="en-US" sz="17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700" b="1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반복은 </a:t>
            </a:r>
            <a:pPr indent="0" marL="0">
              <a:lnSpc>
                <a:spcPct val="132000"/>
              </a:lnSpc>
              <a:buNone/>
            </a:pPr>
            <a:r>
              <a:rPr lang="en-US" sz="17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규칙이 된다.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8412480" y="4892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확인하고 적용하는 흐름은 그대로.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달을 한 장에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8096" y="1819656"/>
            <a:ext cx="6693408" cy="4681728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6E4F5"/>
            </a:solidFill>
            <a:prstDash val="solid"/>
          </a:ln>
          <a:effectLst>
            <a:outerShdw sx="100000" sy="100000" kx="0" ky="0" algn="bl" rotWithShape="0" blurRad="152400" dist="50800" dir="5400000">
              <a:srgbClr val="16172A">
                <a:alpha val="10000"/>
              </a:srgbClr>
            </a:outerShdw>
          </a:effectLst>
        </p:spPr>
      </p:sp>
      <p:pic>
        <p:nvPicPr>
          <p:cNvPr id="5" name="Image 0" descr="C:\Users\sohnj\Project\260627 AI Planner 클로드\docs\images\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658368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984248"/>
            <a:ext cx="310896" cy="310896"/>
          </a:xfrm>
          <a:prstGeom prst="ellipse">
            <a:avLst/>
          </a:prstGeom>
          <a:solidFill>
            <a:srgbClr val="F1EFF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233" y="2065081"/>
            <a:ext cx="149230" cy="1492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11312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상태로 구분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211312" y="2286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미완료는 또렷하게, 완료·취소는 흐리게. 연가는 초록, 출장은 파랑으로 셀이 물든다.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772400" y="3355848"/>
            <a:ext cx="310896" cy="310896"/>
          </a:xfrm>
          <a:prstGeom prst="ellipse">
            <a:avLst/>
          </a:prstGeom>
          <a:solidFill>
            <a:srgbClr val="F1EFFC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233" y="3436681"/>
            <a:ext cx="149230" cy="1492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11312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누르면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211312" y="36576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달력과 메모 사이에 그 날 일정만 목록으로. 상태 배지가 곧 필터.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772400" y="4727448"/>
            <a:ext cx="310896" cy="310896"/>
          </a:xfrm>
          <a:prstGeom prst="ellipse">
            <a:avLst/>
          </a:prstGeom>
          <a:solidFill>
            <a:srgbClr val="F1EFFC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3233" y="4808281"/>
            <a:ext cx="149230" cy="14923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11312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우클릭으로 빠르게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8211312" y="50292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완료·보류·수정·복제·삭제와 연가 설정을 달력에서 바로.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쓰고, 묶고, 이어 보기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8096" y="1819656"/>
            <a:ext cx="6693408" cy="4681728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6E4F5"/>
            </a:solidFill>
            <a:prstDash val="solid"/>
          </a:ln>
          <a:effectLst>
            <a:outerShdw sx="100000" sy="100000" kx="0" ky="0" algn="bl" rotWithShape="0" blurRad="152400" dist="50800" dir="5400000">
              <a:srgbClr val="16172A">
                <a:alpha val="10000"/>
              </a:srgbClr>
            </a:outerShdw>
          </a:effectLst>
        </p:spPr>
      </p:sp>
      <p:pic>
        <p:nvPicPr>
          <p:cNvPr id="5" name="Image 0" descr="C:\Users\sohnj\Project\260627 AI Planner 클로드\docs\images\no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658368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984248"/>
            <a:ext cx="310896" cy="310896"/>
          </a:xfrm>
          <a:prstGeom prst="ellipse">
            <a:avLst/>
          </a:prstGeom>
          <a:solidFill>
            <a:srgbClr val="F1EFF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233" y="2065081"/>
            <a:ext cx="149230" cy="1492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11312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제목·분류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211312" y="2286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첫 줄에서 제목을 따오고, 프로젝트·세부 항목을 백그라운드에서 추천.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772400" y="3355848"/>
            <a:ext cx="310896" cy="310896"/>
          </a:xfrm>
          <a:prstGeom prst="ellipse">
            <a:avLst/>
          </a:prstGeom>
          <a:solidFill>
            <a:srgbClr val="F1EFFC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233" y="3436681"/>
            <a:ext cx="149230" cy="1492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11312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보기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211312" y="36576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카테고리를 고르면 노트가 위아래로 펼쳐지고, 체크박스는 그 자리에서 토글.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772400" y="4727448"/>
            <a:ext cx="310896" cy="310896"/>
          </a:xfrm>
          <a:prstGeom prst="ellipse">
            <a:avLst/>
          </a:prstGeom>
          <a:solidFill>
            <a:srgbClr val="F1EFFC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3233" y="4808281"/>
            <a:ext cx="149230" cy="14923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11312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잃지 않는 편집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8211312" y="50292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끌어 순서를 바꾸고, 다른 노트로 넘어가도 자동 저장.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SCHEDULE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한 줄이면 초안이 나온다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6C5CE7"/>
            </a:solidFill>
            <a:prstDash val="solid"/>
          </a:ln>
          <a:effectLst>
            <a:outerShdw sx="100000" sy="100000" kx="0" ky="0" algn="bl" rotWithShape="0" blurRad="152400" dist="50800" dir="5400000">
              <a:srgbClr val="16172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9659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pPr indent="0" marL="0">
              <a:buNone/>
            </a:pPr>
            <a:r>
              <a:rPr lang="en-US" sz="18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11시반에 김선임과 점심</a:t>
            </a:r>
            <a:pPr indent="0" marL="0">
              <a:buNone/>
            </a:pPr>
            <a:r>
              <a:rPr lang="en-US" sz="1800" b="1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바로 저장하지 않는다.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날짜·시간·프로젝트·종류를 채운 초안을 먼저 보여 주고, 확인해서 적용한다.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5852160" cy="1783080"/>
          </a:xfrm>
          <a:prstGeom prst="roundRect">
            <a:avLst>
              <a:gd name="adj" fmla="val 6154"/>
            </a:avLst>
          </a:prstGeom>
          <a:solidFill>
            <a:srgbClr val="F1EFFC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2062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F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습관은 규칙이 된다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4663440"/>
            <a:ext cx="5349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"점심은 11시반, 점심 약속 프로젝트" 같은 패턴을 </a:t>
            </a:r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규칙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제안한다. 규칙을 먼저 검토·저장하면 </a:t>
            </a:r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4A3F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user.md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남아 다음부터 자동 적용.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580376" y="448056"/>
            <a:ext cx="5529072" cy="5916168"/>
          </a:xfrm>
          <a:prstGeom prst="roundRect">
            <a:avLst>
              <a:gd name="adj" fmla="val 1488"/>
            </a:avLst>
          </a:prstGeom>
          <a:solidFill>
            <a:srgbClr val="FFFFFF"/>
          </a:solidFill>
          <a:ln w="12700">
            <a:solidFill>
              <a:srgbClr val="E6E4F5"/>
            </a:solidFill>
            <a:prstDash val="solid"/>
          </a:ln>
          <a:effectLst>
            <a:outerShdw sx="100000" sy="100000" kx="0" ky="0" algn="bl" rotWithShape="0" blurRad="152400" dist="50800" dir="5400000">
              <a:srgbClr val="16172A">
                <a:alpha val="10000"/>
              </a:srgbClr>
            </a:outerShdw>
          </a:effectLst>
        </p:spPr>
      </p:sp>
      <p:pic>
        <p:nvPicPr>
          <p:cNvPr id="11" name="Image 0" descr="C:\Users\sohnj\Project\260627 AI Planner 클로드\docs\images\ai-sche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502920"/>
            <a:ext cx="5419344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609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 YOUR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60920" y="9144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노트와 일정에 물어보기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8096" y="1179576"/>
            <a:ext cx="6298387" cy="4407408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12700">
            <a:solidFill>
              <a:srgbClr val="E6E4F5"/>
            </a:solidFill>
            <a:prstDash val="solid"/>
          </a:ln>
          <a:effectLst>
            <a:outerShdw sx="100000" sy="100000" kx="0" ky="0" algn="bl" rotWithShape="0" blurRad="152400" dist="50800" dir="5400000">
              <a:srgbClr val="16172A">
                <a:alpha val="10000"/>
              </a:srgbClr>
            </a:outerShdw>
          </a:effectLst>
        </p:spPr>
      </p:sp>
      <p:pic>
        <p:nvPicPr>
          <p:cNvPr id="5" name="Image 0" descr="C:\Users\sohnj\Project\260627 AI Planner 클로드\docs\images\q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6188659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2212848"/>
            <a:ext cx="310896" cy="310896"/>
          </a:xfrm>
          <a:prstGeom prst="ellipse">
            <a:avLst/>
          </a:prstGeom>
          <a:solidFill>
            <a:srgbClr val="E4F6F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1753" y="2293681"/>
            <a:ext cx="149230" cy="1492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99832" y="2148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검색해서 답한다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799832" y="25146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노트와 일정을 뒤져 근거 있는 답을 만든다.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360920" y="3383280"/>
            <a:ext cx="310896" cy="310896"/>
          </a:xfrm>
          <a:prstGeom prst="ellipse">
            <a:avLst/>
          </a:prstGeom>
          <a:solidFill>
            <a:srgbClr val="E4F6F1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1753" y="3464113"/>
            <a:ext cx="149230" cy="1492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799832" y="33192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칩으로 이동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7799832" y="368503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된 노트·일정을 눌러 바로 그 화면으로.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360920" y="4553712"/>
            <a:ext cx="310896" cy="310896"/>
          </a:xfrm>
          <a:prstGeom prst="ellipse">
            <a:avLst/>
          </a:prstGeom>
          <a:solidFill>
            <a:srgbClr val="E4F6F1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753" y="4634545"/>
            <a:ext cx="149230" cy="14923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799832" y="44897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호출을 투명하게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7799832" y="4855464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줄이 어떤 검색을 몇 번 했는지 보여 준다.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7A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이렇게 움직인다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276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네이티브 function calling 없이, 프롬프트로 도구를 지시하고 결과를 다시 물어보는 루프.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2615184" cy="1828800"/>
          </a:xfrm>
          <a:prstGeom prst="roundRect">
            <a:avLst>
              <a:gd name="adj" fmla="val 5000"/>
            </a:avLst>
          </a:prstGeom>
          <a:solidFill>
            <a:srgbClr val="22233D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2542032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420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78992" y="32461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78992" y="36118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 JSON 스키마와 도구 목록을 준다.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0" y="2286000"/>
            <a:ext cx="2615184" cy="1828800"/>
          </a:xfrm>
          <a:prstGeom prst="roundRect">
            <a:avLst>
              <a:gd name="adj" fmla="val 5000"/>
            </a:avLst>
          </a:prstGeom>
          <a:solidFill>
            <a:srgbClr val="22233D"/>
          </a:solidFill>
          <a:ln/>
        </p:spPr>
      </p:sp>
      <p:sp>
        <p:nvSpPr>
          <p:cNvPr id="11" name="Shape 9"/>
          <p:cNvSpPr/>
          <p:nvPr/>
        </p:nvSpPr>
        <p:spPr>
          <a:xfrm>
            <a:off x="3913632" y="2542032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3913632" y="25420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913632" y="32461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13632" y="36118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필요한 도구 호출을 JSON으로 반환한다.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92240" y="2286000"/>
            <a:ext cx="2615184" cy="1828800"/>
          </a:xfrm>
          <a:prstGeom prst="roundRect">
            <a:avLst>
              <a:gd name="adj" fmla="val 5000"/>
            </a:avLst>
          </a:prstGeom>
          <a:solidFill>
            <a:srgbClr val="22233D"/>
          </a:solidFill>
          <a:ln/>
        </p:spPr>
      </p:sp>
      <p:sp>
        <p:nvSpPr>
          <p:cNvPr id="16" name="Shape 14"/>
          <p:cNvSpPr/>
          <p:nvPr/>
        </p:nvSpPr>
        <p:spPr>
          <a:xfrm>
            <a:off x="6748272" y="2542032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7" name="Text 15"/>
          <p:cNvSpPr/>
          <p:nvPr/>
        </p:nvSpPr>
        <p:spPr>
          <a:xfrm>
            <a:off x="6748272" y="25420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48272" y="32461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48272" y="36118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로컬에서 실행하고 결과를 붙인다.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326880" y="2286000"/>
            <a:ext cx="2615184" cy="1828800"/>
          </a:xfrm>
          <a:prstGeom prst="roundRect">
            <a:avLst>
              <a:gd name="adj" fmla="val 5000"/>
            </a:avLst>
          </a:prstGeom>
          <a:solidFill>
            <a:srgbClr val="22233D"/>
          </a:solidFill>
          <a:ln/>
        </p:spPr>
      </p:sp>
      <p:sp>
        <p:nvSpPr>
          <p:cNvPr id="21" name="Shape 19"/>
          <p:cNvSpPr/>
          <p:nvPr/>
        </p:nvSpPr>
        <p:spPr>
          <a:xfrm>
            <a:off x="9582912" y="2542032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9582912" y="25420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582912" y="32461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582912" y="36118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결과로 다시 질의 — 최대 4라운드.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2960" y="4526280"/>
            <a:ext cx="2615184" cy="822960"/>
          </a:xfrm>
          <a:prstGeom prst="roundRect">
            <a:avLst>
              <a:gd name="adj" fmla="val 8889"/>
            </a:avLst>
          </a:prstGeom>
          <a:solidFill>
            <a:srgbClr val="1E1F36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" y="452628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scheduleAgent — 일정 초안·규칙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657600" y="4526280"/>
            <a:ext cx="2615184" cy="822960"/>
          </a:xfrm>
          <a:prstGeom prst="roundRect">
            <a:avLst>
              <a:gd name="adj" fmla="val 8889"/>
            </a:avLst>
          </a:prstGeom>
          <a:solidFill>
            <a:srgbClr val="1E1F36"/>
          </a:solidFill>
          <a:ln/>
        </p:spPr>
      </p:sp>
      <p:sp>
        <p:nvSpPr>
          <p:cNvPr id="28" name="Text 26"/>
          <p:cNvSpPr/>
          <p:nvPr/>
        </p:nvSpPr>
        <p:spPr>
          <a:xfrm>
            <a:off x="3840480" y="452628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qaAgent — 질의응답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92240" y="4526280"/>
            <a:ext cx="2615184" cy="822960"/>
          </a:xfrm>
          <a:prstGeom prst="roundRect">
            <a:avLst>
              <a:gd name="adj" fmla="val 8889"/>
            </a:avLst>
          </a:prstGeom>
          <a:solidFill>
            <a:srgbClr val="1E1F36"/>
          </a:solidFill>
          <a:ln/>
        </p:spPr>
      </p:sp>
      <p:sp>
        <p:nvSpPr>
          <p:cNvPr id="30" name="Text 28"/>
          <p:cNvSpPr/>
          <p:nvPr/>
        </p:nvSpPr>
        <p:spPr>
          <a:xfrm>
            <a:off x="6675120" y="452628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notesAgent — 편집·요약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326880" y="4526280"/>
            <a:ext cx="2615184" cy="822960"/>
          </a:xfrm>
          <a:prstGeom prst="roundRect">
            <a:avLst>
              <a:gd name="adj" fmla="val 8889"/>
            </a:avLst>
          </a:prstGeom>
          <a:solidFill>
            <a:srgbClr val="1E1F36"/>
          </a:solidFill>
          <a:ln/>
        </p:spPr>
      </p:sp>
      <p:sp>
        <p:nvSpPr>
          <p:cNvPr id="32" name="Text 30"/>
          <p:cNvSpPr/>
          <p:nvPr/>
        </p:nvSpPr>
        <p:spPr>
          <a:xfrm>
            <a:off x="9509760" y="452628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briefingAgent — 아침 브리핑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A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덕분에 로컬 모델을 포함한 어떤 OpenAI 호환 엔드포인트와도 붙는다.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C5C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&amp; STATS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데이터는 내 브라우저에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120640" cy="1051560"/>
          </a:xfrm>
          <a:prstGeom prst="roundRect">
            <a:avLst>
              <a:gd name="adj" fmla="val 8696"/>
            </a:avLst>
          </a:prstGeom>
          <a:solidFill>
            <a:srgbClr val="F7F6FE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203704"/>
            <a:ext cx="566928" cy="56692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961" y="2351105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우선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24963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데이터는 IndexedDB에. 계정도 서버도 없다.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3200400"/>
            <a:ext cx="5120640" cy="1051560"/>
          </a:xfrm>
          <a:prstGeom prst="roundRect">
            <a:avLst>
              <a:gd name="adj" fmla="val 8696"/>
            </a:avLst>
          </a:prstGeom>
          <a:solidFill>
            <a:srgbClr val="F7F6FE"/>
          </a:solidFill>
          <a:ln/>
        </p:spPr>
      </p:sp>
      <p:sp>
        <p:nvSpPr>
          <p:cNvPr id="10" name="Shape 7"/>
          <p:cNvSpPr/>
          <p:nvPr/>
        </p:nvSpPr>
        <p:spPr>
          <a:xfrm>
            <a:off x="1051560" y="3438144"/>
            <a:ext cx="566928" cy="56692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961" y="3585545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383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내보내기·되돌리기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828800" y="37307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백업과 이전이 파일 하나로 끝난다.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434840"/>
            <a:ext cx="5120640" cy="1051560"/>
          </a:xfrm>
          <a:prstGeom prst="roundRect">
            <a:avLst>
              <a:gd name="adj" fmla="val 8696"/>
            </a:avLst>
          </a:prstGeom>
          <a:solidFill>
            <a:srgbClr val="F7F6FE"/>
          </a:solidFill>
          <a:ln/>
        </p:spPr>
      </p:sp>
      <p:sp>
        <p:nvSpPr>
          <p:cNvPr id="15" name="Shape 11"/>
          <p:cNvSpPr/>
          <p:nvPr/>
        </p:nvSpPr>
        <p:spPr>
          <a:xfrm>
            <a:off x="1051560" y="4672584"/>
            <a:ext cx="566928" cy="566928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961" y="4819985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617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토큰 집계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828800" y="496519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오늘·누적 사용량을 통계 탭에서 확인.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37376" y="1773936"/>
            <a:ext cx="6100877" cy="4270248"/>
          </a:xfrm>
          <a:prstGeom prst="roundRect">
            <a:avLst>
              <a:gd name="adj" fmla="val 1927"/>
            </a:avLst>
          </a:prstGeom>
          <a:solidFill>
            <a:srgbClr val="FFFFFF"/>
          </a:solidFill>
          <a:ln w="12700">
            <a:solidFill>
              <a:srgbClr val="E6E4F5"/>
            </a:solidFill>
            <a:prstDash val="solid"/>
          </a:ln>
          <a:effectLst>
            <a:outerShdw sx="100000" sy="100000" kx="0" ky="0" algn="bl" rotWithShape="0" blurRad="152400" dist="50800" dir="5400000">
              <a:srgbClr val="16172A">
                <a:alpha val="10000"/>
              </a:srgbClr>
            </a:outerShdw>
          </a:effectLst>
        </p:spPr>
      </p:sp>
      <p:pic>
        <p:nvPicPr>
          <p:cNvPr id="20" name="Image 3" descr="C:\Users\sohnj\Project\260627 AI Planner 클로드\docs\images\sta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828800"/>
            <a:ext cx="5991149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2926080"/>
            <a:ext cx="7315200" cy="7315200"/>
          </a:xfrm>
          <a:prstGeom prst="ellipse">
            <a:avLst/>
          </a:prstGeom>
          <a:solidFill>
            <a:srgbClr val="4A3FB5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2377440"/>
            <a:ext cx="6400800" cy="6400800"/>
          </a:xfrm>
          <a:prstGeom prst="ellipse">
            <a:avLst/>
          </a:prstGeom>
          <a:solidFill>
            <a:srgbClr val="6C5CE7">
              <a:alpha val="1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3317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로컬에 남고, </a:t>
            </a:r>
            <a:pPr indent="0" marL="0">
              <a:lnSpc>
                <a:spcPct val="125000"/>
              </a:lnSpc>
              <a:buNone/>
            </a:pPr>
            <a:r>
              <a:rPr lang="en-US" sz="3400" b="1" dirty="0">
                <a:solidFill>
                  <a:srgbClr val="B7A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움직이고, </a:t>
            </a:r>
            <a:pPr indent="0" marL="0">
              <a:lnSpc>
                <a:spcPct val="12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반복은 스스로 학습한다.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4114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7C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일정아이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97280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A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github.com/sohnjun96/AI-Planner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일정아이 소개</dc:title>
  <dc:subject>PptxGenJS Presentation</dc:subject>
  <dc:creator>일정아이</dc:creator>
  <cp:lastModifiedBy>일정아이</cp:lastModifiedBy>
  <cp:revision>1</cp:revision>
  <dcterms:created xsi:type="dcterms:W3CDTF">2026-07-06T19:34:39Z</dcterms:created>
  <dcterms:modified xsi:type="dcterms:W3CDTF">2026-07-06T19:34:39Z</dcterms:modified>
</cp:coreProperties>
</file>