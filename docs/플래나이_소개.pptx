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플래나이(PLANAI). 쪽지로 쏟아지는 업무를 한곳에 모아 흐름으로 바꾸는 로컬 우선 플래너.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대상 사용자의 통증 4가지. 오른쪽은 흩어진 쪽지 더미로 시각화.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쏟아 넣기 → 자동 분류 → 흐름으로. AI는 초안을 먼저 제시하고 확인 후 반영.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자연어 한 줄 → 초안 카드. 반복 기준은 user.md 규칙으로 저장되어 자동 적용.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노트를 넣기만 하면 프로젝트·세부 항목으로 자동 분류되고 제목도 자동 생성. 직접 고치면 고정.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노트-일정 양방향 연결과 추천, 노트끼리 관련 노트 제안.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질문 기능: 노트·일정 검색 후 답변, 근거 칩으로 이동, 도구 호출 내역 표시.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가장 강조할 슬라이드. 하루의 마지막 일정을 완료하면 색종이 효과와 '수고했어요' 배너가 뜬다. 애니메이션 줄이기 설정 시 정적 배너만.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대시보드 월간 보기. 마감 표식, 선택일 목록, 상태별 구분.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로컬 우선 데이터 보관과 제품 철학으로 마무리.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0" y="-2377440"/>
            <a:ext cx="8229600" cy="8229600"/>
          </a:xfrm>
          <a:prstGeom prst="ellipse">
            <a:avLst/>
          </a:prstGeom>
          <a:solidFill>
            <a:srgbClr val="2563EB">
              <a:alpha val="16000"/>
            </a:srgbClr>
          </a:solidFill>
          <a:ln/>
        </p:spPr>
      </p:sp>
      <p:sp>
        <p:nvSpPr>
          <p:cNvPr id="3" name="Shape 1"/>
          <p:cNvSpPr/>
          <p:nvPr/>
        </p:nvSpPr>
        <p:spPr>
          <a:xfrm rot="-780000">
            <a:off x="7223760" y="137160"/>
            <a:ext cx="1371600" cy="1005840"/>
          </a:xfrm>
          <a:prstGeom prst="roundRect">
            <a:avLst>
              <a:gd name="adj" fmla="val 4545"/>
            </a:avLst>
          </a:prstGeom>
          <a:solidFill>
            <a:srgbClr val="FFF3C4"/>
          </a:solidFill>
          <a:ln/>
          <a:effectLst>
            <a:outerShdw sx="100000" sy="100000" kx="0" ky="0" algn="bl" rotWithShape="0" blurRad="101600" dist="38100" dir="5400000">
              <a:srgbClr val="111726">
                <a:alpha val="16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 rot="-780000">
            <a:off x="7443216" y="418795"/>
            <a:ext cx="932688" cy="41148"/>
          </a:xfrm>
          <a:prstGeom prst="rect">
            <a:avLst/>
          </a:prstGeom>
          <a:solidFill>
            <a:srgbClr val="9AA8C4"/>
          </a:solidFill>
          <a:ln/>
        </p:spPr>
      </p:sp>
      <p:sp>
        <p:nvSpPr>
          <p:cNvPr id="5" name="Shape 3"/>
          <p:cNvSpPr/>
          <p:nvPr/>
        </p:nvSpPr>
        <p:spPr>
          <a:xfrm rot="-780000">
            <a:off x="7443216" y="619963"/>
            <a:ext cx="932688" cy="41148"/>
          </a:xfrm>
          <a:prstGeom prst="rect">
            <a:avLst/>
          </a:prstGeom>
          <a:solidFill>
            <a:srgbClr val="9AA8C4"/>
          </a:solidFill>
          <a:ln/>
        </p:spPr>
      </p:sp>
      <p:sp>
        <p:nvSpPr>
          <p:cNvPr id="6" name="Shape 4"/>
          <p:cNvSpPr/>
          <p:nvPr/>
        </p:nvSpPr>
        <p:spPr>
          <a:xfrm rot="-780000">
            <a:off x="7443216" y="821131"/>
            <a:ext cx="576072" cy="41148"/>
          </a:xfrm>
          <a:prstGeom prst="rect">
            <a:avLst/>
          </a:prstGeom>
          <a:solidFill>
            <a:srgbClr val="9AA8C4"/>
          </a:solidFill>
          <a:ln/>
        </p:spPr>
      </p:sp>
      <p:sp>
        <p:nvSpPr>
          <p:cNvPr id="7" name="Shape 5"/>
          <p:cNvSpPr/>
          <p:nvPr/>
        </p:nvSpPr>
        <p:spPr>
          <a:xfrm rot="540000">
            <a:off x="8686800" y="-137160"/>
            <a:ext cx="123444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11726">
                <a:alpha val="1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 rot="540000">
            <a:off x="8884310" y="118872"/>
            <a:ext cx="839419" cy="41148"/>
          </a:xfrm>
          <a:prstGeom prst="rect">
            <a:avLst/>
          </a:prstGeom>
          <a:solidFill>
            <a:srgbClr val="9AA8C4"/>
          </a:solidFill>
          <a:ln/>
        </p:spPr>
      </p:sp>
      <p:sp>
        <p:nvSpPr>
          <p:cNvPr id="9" name="Shape 7"/>
          <p:cNvSpPr/>
          <p:nvPr/>
        </p:nvSpPr>
        <p:spPr>
          <a:xfrm rot="540000">
            <a:off x="8884310" y="301752"/>
            <a:ext cx="839419" cy="41148"/>
          </a:xfrm>
          <a:prstGeom prst="rect">
            <a:avLst/>
          </a:prstGeom>
          <a:solidFill>
            <a:srgbClr val="9AA8C4"/>
          </a:solidFill>
          <a:ln/>
        </p:spPr>
      </p:sp>
      <p:sp>
        <p:nvSpPr>
          <p:cNvPr id="10" name="Shape 8"/>
          <p:cNvSpPr/>
          <p:nvPr/>
        </p:nvSpPr>
        <p:spPr>
          <a:xfrm rot="540000">
            <a:off x="8884310" y="484632"/>
            <a:ext cx="518465" cy="41148"/>
          </a:xfrm>
          <a:prstGeom prst="rect">
            <a:avLst/>
          </a:prstGeom>
          <a:solidFill>
            <a:srgbClr val="9AA8C4"/>
          </a:solidFill>
          <a:ln/>
        </p:spPr>
      </p:sp>
      <p:sp>
        <p:nvSpPr>
          <p:cNvPr id="11" name="Shape 9"/>
          <p:cNvSpPr/>
          <p:nvPr/>
        </p:nvSpPr>
        <p:spPr>
          <a:xfrm rot="-360000">
            <a:off x="10058400" y="320040"/>
            <a:ext cx="1371600" cy="1005840"/>
          </a:xfrm>
          <a:prstGeom prst="roundRect">
            <a:avLst>
              <a:gd name="adj" fmla="val 4545"/>
            </a:avLst>
          </a:prstGeom>
          <a:solidFill>
            <a:srgbClr val="DCEBFF"/>
          </a:solidFill>
          <a:ln/>
          <a:effectLst>
            <a:outerShdw sx="100000" sy="100000" kx="0" ky="0" algn="bl" rotWithShape="0" blurRad="101600" dist="38100" dir="5400000">
              <a:srgbClr val="111726">
                <a:alpha val="1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 rot="-360000">
            <a:off x="10277856" y="601675"/>
            <a:ext cx="932688" cy="41148"/>
          </a:xfrm>
          <a:prstGeom prst="rect">
            <a:avLst/>
          </a:prstGeom>
          <a:solidFill>
            <a:srgbClr val="9AA8C4"/>
          </a:solidFill>
          <a:ln/>
        </p:spPr>
      </p:sp>
      <p:sp>
        <p:nvSpPr>
          <p:cNvPr id="13" name="Shape 11"/>
          <p:cNvSpPr/>
          <p:nvPr/>
        </p:nvSpPr>
        <p:spPr>
          <a:xfrm rot="-360000">
            <a:off x="10277856" y="802843"/>
            <a:ext cx="576072" cy="41148"/>
          </a:xfrm>
          <a:prstGeom prst="rect">
            <a:avLst/>
          </a:prstGeom>
          <a:solidFill>
            <a:srgbClr val="9AA8C4"/>
          </a:solidFill>
          <a:ln/>
        </p:spPr>
      </p:sp>
      <p:sp>
        <p:nvSpPr>
          <p:cNvPr id="14" name="Shape 12"/>
          <p:cNvSpPr/>
          <p:nvPr/>
        </p:nvSpPr>
        <p:spPr>
          <a:xfrm rot="840000">
            <a:off x="7772400" y="1417320"/>
            <a:ext cx="1280160" cy="9601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11726">
                <a:alpha val="1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 rot="840000">
            <a:off x="7977226" y="1686154"/>
            <a:ext cx="870509" cy="41148"/>
          </a:xfrm>
          <a:prstGeom prst="rect">
            <a:avLst/>
          </a:prstGeom>
          <a:solidFill>
            <a:srgbClr val="9AA8C4"/>
          </a:solidFill>
          <a:ln/>
        </p:spPr>
      </p:sp>
      <p:sp>
        <p:nvSpPr>
          <p:cNvPr id="16" name="Shape 14"/>
          <p:cNvSpPr/>
          <p:nvPr/>
        </p:nvSpPr>
        <p:spPr>
          <a:xfrm rot="840000">
            <a:off x="7977226" y="1878178"/>
            <a:ext cx="870509" cy="41148"/>
          </a:xfrm>
          <a:prstGeom prst="rect">
            <a:avLst/>
          </a:prstGeom>
          <a:solidFill>
            <a:srgbClr val="9AA8C4"/>
          </a:solidFill>
          <a:ln/>
        </p:spPr>
      </p:sp>
      <p:sp>
        <p:nvSpPr>
          <p:cNvPr id="17" name="Shape 15"/>
          <p:cNvSpPr/>
          <p:nvPr/>
        </p:nvSpPr>
        <p:spPr>
          <a:xfrm rot="840000">
            <a:off x="7977226" y="2070202"/>
            <a:ext cx="537667" cy="41148"/>
          </a:xfrm>
          <a:prstGeom prst="rect">
            <a:avLst/>
          </a:prstGeom>
          <a:solidFill>
            <a:srgbClr val="9AA8C4"/>
          </a:solidFill>
          <a:ln/>
        </p:spPr>
      </p:sp>
      <p:sp>
        <p:nvSpPr>
          <p:cNvPr id="18" name="Shape 16"/>
          <p:cNvSpPr/>
          <p:nvPr/>
        </p:nvSpPr>
        <p:spPr>
          <a:xfrm rot="-600000">
            <a:off x="9326880" y="1234440"/>
            <a:ext cx="1417320" cy="1051560"/>
          </a:xfrm>
          <a:prstGeom prst="roundRect">
            <a:avLst>
              <a:gd name="adj" fmla="val 4348"/>
            </a:avLst>
          </a:prstGeom>
          <a:solidFill>
            <a:srgbClr val="FFE7D6"/>
          </a:solidFill>
          <a:ln/>
          <a:effectLst>
            <a:outerShdw sx="100000" sy="100000" kx="0" ky="0" algn="bl" rotWithShape="0" blurRad="101600" dist="38100" dir="5400000">
              <a:srgbClr val="111726">
                <a:alpha val="16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 rot="-600000">
            <a:off x="9553651" y="1528877"/>
            <a:ext cx="963778" cy="41148"/>
          </a:xfrm>
          <a:prstGeom prst="rect">
            <a:avLst/>
          </a:prstGeom>
          <a:solidFill>
            <a:srgbClr val="9AA8C4"/>
          </a:solidFill>
          <a:ln/>
        </p:spPr>
      </p:sp>
      <p:sp>
        <p:nvSpPr>
          <p:cNvPr id="20" name="Shape 18"/>
          <p:cNvSpPr/>
          <p:nvPr/>
        </p:nvSpPr>
        <p:spPr>
          <a:xfrm rot="-600000">
            <a:off x="9553651" y="1739189"/>
            <a:ext cx="963778" cy="41148"/>
          </a:xfrm>
          <a:prstGeom prst="rect">
            <a:avLst/>
          </a:prstGeom>
          <a:solidFill>
            <a:srgbClr val="9AA8C4"/>
          </a:solidFill>
          <a:ln/>
        </p:spPr>
      </p:sp>
      <p:sp>
        <p:nvSpPr>
          <p:cNvPr id="21" name="Shape 19"/>
          <p:cNvSpPr/>
          <p:nvPr/>
        </p:nvSpPr>
        <p:spPr>
          <a:xfrm rot="-600000">
            <a:off x="9553651" y="1949501"/>
            <a:ext cx="595274" cy="41148"/>
          </a:xfrm>
          <a:prstGeom prst="rect">
            <a:avLst/>
          </a:prstGeom>
          <a:solidFill>
            <a:srgbClr val="9AA8C4"/>
          </a:solidFill>
          <a:ln/>
        </p:spPr>
      </p:sp>
      <p:sp>
        <p:nvSpPr>
          <p:cNvPr id="22" name="Shape 20"/>
          <p:cNvSpPr/>
          <p:nvPr/>
        </p:nvSpPr>
        <p:spPr>
          <a:xfrm rot="420000">
            <a:off x="10744200" y="1828800"/>
            <a:ext cx="1188720" cy="86868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11726">
                <a:alpha val="16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 rot="420000">
            <a:off x="10934395" y="2072030"/>
            <a:ext cx="808330" cy="41148"/>
          </a:xfrm>
          <a:prstGeom prst="rect">
            <a:avLst/>
          </a:prstGeom>
          <a:solidFill>
            <a:srgbClr val="9AA8C4"/>
          </a:solidFill>
          <a:ln/>
        </p:spPr>
      </p:sp>
      <p:sp>
        <p:nvSpPr>
          <p:cNvPr id="24" name="Shape 22"/>
          <p:cNvSpPr/>
          <p:nvPr/>
        </p:nvSpPr>
        <p:spPr>
          <a:xfrm rot="420000">
            <a:off x="10934395" y="2245766"/>
            <a:ext cx="499262" cy="41148"/>
          </a:xfrm>
          <a:prstGeom prst="rect">
            <a:avLst/>
          </a:prstGeom>
          <a:solidFill>
            <a:srgbClr val="9AA8C4"/>
          </a:solidFill>
          <a:ln/>
        </p:spPr>
      </p:sp>
      <p:sp>
        <p:nvSpPr>
          <p:cNvPr id="25" name="Shape 23"/>
          <p:cNvSpPr/>
          <p:nvPr/>
        </p:nvSpPr>
        <p:spPr>
          <a:xfrm rot="-480000">
            <a:off x="7086600" y="2788920"/>
            <a:ext cx="1325880" cy="960120"/>
          </a:xfrm>
          <a:prstGeom prst="roundRect">
            <a:avLst>
              <a:gd name="adj" fmla="val 4762"/>
            </a:avLst>
          </a:prstGeom>
          <a:solidFill>
            <a:srgbClr val="DCEBFF"/>
          </a:solidFill>
          <a:ln/>
          <a:effectLst>
            <a:outerShdw sx="100000" sy="100000" kx="0" ky="0" algn="bl" rotWithShape="0" blurRad="101600" dist="38100" dir="5400000">
              <a:srgbClr val="111726">
                <a:alpha val="16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 rot="-480000">
            <a:off x="7298741" y="3057754"/>
            <a:ext cx="901598" cy="41148"/>
          </a:xfrm>
          <a:prstGeom prst="rect">
            <a:avLst/>
          </a:prstGeom>
          <a:solidFill>
            <a:srgbClr val="9AA8C4"/>
          </a:solidFill>
          <a:ln/>
        </p:spPr>
      </p:sp>
      <p:sp>
        <p:nvSpPr>
          <p:cNvPr id="27" name="Shape 25"/>
          <p:cNvSpPr/>
          <p:nvPr/>
        </p:nvSpPr>
        <p:spPr>
          <a:xfrm rot="-480000">
            <a:off x="7298741" y="3249778"/>
            <a:ext cx="901598" cy="41148"/>
          </a:xfrm>
          <a:prstGeom prst="rect">
            <a:avLst/>
          </a:prstGeom>
          <a:solidFill>
            <a:srgbClr val="9AA8C4"/>
          </a:solidFill>
          <a:ln/>
        </p:spPr>
      </p:sp>
      <p:sp>
        <p:nvSpPr>
          <p:cNvPr id="28" name="Shape 26"/>
          <p:cNvSpPr/>
          <p:nvPr/>
        </p:nvSpPr>
        <p:spPr>
          <a:xfrm rot="-480000">
            <a:off x="7298741" y="3441802"/>
            <a:ext cx="556870" cy="41148"/>
          </a:xfrm>
          <a:prstGeom prst="rect">
            <a:avLst/>
          </a:prstGeom>
          <a:solidFill>
            <a:srgbClr val="9AA8C4"/>
          </a:solidFill>
          <a:ln/>
        </p:spPr>
      </p:sp>
      <p:sp>
        <p:nvSpPr>
          <p:cNvPr id="29" name="Shape 27"/>
          <p:cNvSpPr/>
          <p:nvPr/>
        </p:nvSpPr>
        <p:spPr>
          <a:xfrm rot="720000">
            <a:off x="8549640" y="2697480"/>
            <a:ext cx="1371600" cy="1005840"/>
          </a:xfrm>
          <a:prstGeom prst="roundRect">
            <a:avLst>
              <a:gd name="adj" fmla="val 4545"/>
            </a:avLst>
          </a:prstGeom>
          <a:solidFill>
            <a:srgbClr val="FFF3C4"/>
          </a:solidFill>
          <a:ln/>
          <a:effectLst>
            <a:outerShdw sx="100000" sy="100000" kx="0" ky="0" algn="bl" rotWithShape="0" blurRad="101600" dist="38100" dir="5400000">
              <a:srgbClr val="111726">
                <a:alpha val="16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 rot="720000">
            <a:off x="8769096" y="2979115"/>
            <a:ext cx="932688" cy="41148"/>
          </a:xfrm>
          <a:prstGeom prst="rect">
            <a:avLst/>
          </a:prstGeom>
          <a:solidFill>
            <a:srgbClr val="9AA8C4"/>
          </a:solidFill>
          <a:ln/>
        </p:spPr>
      </p:sp>
      <p:sp>
        <p:nvSpPr>
          <p:cNvPr id="31" name="Shape 29"/>
          <p:cNvSpPr/>
          <p:nvPr/>
        </p:nvSpPr>
        <p:spPr>
          <a:xfrm rot="720000">
            <a:off x="8769096" y="3180283"/>
            <a:ext cx="576072" cy="41148"/>
          </a:xfrm>
          <a:prstGeom prst="rect">
            <a:avLst/>
          </a:prstGeom>
          <a:solidFill>
            <a:srgbClr val="9AA8C4"/>
          </a:solidFill>
          <a:ln/>
        </p:spPr>
      </p:sp>
      <p:sp>
        <p:nvSpPr>
          <p:cNvPr id="32" name="Shape 30"/>
          <p:cNvSpPr/>
          <p:nvPr/>
        </p:nvSpPr>
        <p:spPr>
          <a:xfrm rot="-840000">
            <a:off x="10058400" y="3200400"/>
            <a:ext cx="128016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11726">
                <a:alpha val="16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 rot="-840000">
            <a:off x="10263226" y="3456432"/>
            <a:ext cx="870509" cy="41148"/>
          </a:xfrm>
          <a:prstGeom prst="rect">
            <a:avLst/>
          </a:prstGeom>
          <a:solidFill>
            <a:srgbClr val="9AA8C4"/>
          </a:solidFill>
          <a:ln/>
        </p:spPr>
      </p:sp>
      <p:sp>
        <p:nvSpPr>
          <p:cNvPr id="34" name="Shape 32"/>
          <p:cNvSpPr/>
          <p:nvPr/>
        </p:nvSpPr>
        <p:spPr>
          <a:xfrm rot="-840000">
            <a:off x="10263226" y="3639312"/>
            <a:ext cx="870509" cy="41148"/>
          </a:xfrm>
          <a:prstGeom prst="rect">
            <a:avLst/>
          </a:prstGeom>
          <a:solidFill>
            <a:srgbClr val="9AA8C4"/>
          </a:solidFill>
          <a:ln/>
        </p:spPr>
      </p:sp>
      <p:sp>
        <p:nvSpPr>
          <p:cNvPr id="35" name="Shape 33"/>
          <p:cNvSpPr/>
          <p:nvPr/>
        </p:nvSpPr>
        <p:spPr>
          <a:xfrm rot="-840000">
            <a:off x="10263226" y="3822192"/>
            <a:ext cx="537667" cy="41148"/>
          </a:xfrm>
          <a:prstGeom prst="rect">
            <a:avLst/>
          </a:prstGeom>
          <a:solidFill>
            <a:srgbClr val="9AA8C4"/>
          </a:solidFill>
          <a:ln/>
        </p:spPr>
      </p:sp>
      <p:sp>
        <p:nvSpPr>
          <p:cNvPr id="36" name="Shape 34"/>
          <p:cNvSpPr/>
          <p:nvPr/>
        </p:nvSpPr>
        <p:spPr>
          <a:xfrm rot="360000">
            <a:off x="7863840" y="4114800"/>
            <a:ext cx="1234440" cy="914400"/>
          </a:xfrm>
          <a:prstGeom prst="roundRect">
            <a:avLst>
              <a:gd name="adj" fmla="val 5000"/>
            </a:avLst>
          </a:prstGeom>
          <a:solidFill>
            <a:srgbClr val="FFE7D6"/>
          </a:solidFill>
          <a:ln/>
          <a:effectLst>
            <a:outerShdw sx="100000" sy="100000" kx="0" ky="0" algn="bl" rotWithShape="0" blurRad="101600" dist="38100" dir="5400000">
              <a:srgbClr val="111726">
                <a:alpha val="16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 rot="360000">
            <a:off x="8061350" y="4370832"/>
            <a:ext cx="839419" cy="41148"/>
          </a:xfrm>
          <a:prstGeom prst="rect">
            <a:avLst/>
          </a:prstGeom>
          <a:solidFill>
            <a:srgbClr val="9AA8C4"/>
          </a:solidFill>
          <a:ln/>
        </p:spPr>
      </p:sp>
      <p:sp>
        <p:nvSpPr>
          <p:cNvPr id="38" name="Shape 36"/>
          <p:cNvSpPr/>
          <p:nvPr/>
        </p:nvSpPr>
        <p:spPr>
          <a:xfrm rot="360000">
            <a:off x="8061350" y="4553712"/>
            <a:ext cx="518465" cy="41148"/>
          </a:xfrm>
          <a:prstGeom prst="rect">
            <a:avLst/>
          </a:prstGeom>
          <a:solidFill>
            <a:srgbClr val="9AA8C4"/>
          </a:solidFill>
          <a:ln/>
        </p:spPr>
      </p:sp>
      <p:sp>
        <p:nvSpPr>
          <p:cNvPr id="39" name="Shape 37"/>
          <p:cNvSpPr/>
          <p:nvPr/>
        </p:nvSpPr>
        <p:spPr>
          <a:xfrm rot="-540000">
            <a:off x="9418320" y="4389120"/>
            <a:ext cx="1371600" cy="100584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11726">
                <a:alpha val="16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 rot="-540000">
            <a:off x="9637776" y="4670755"/>
            <a:ext cx="932688" cy="41148"/>
          </a:xfrm>
          <a:prstGeom prst="rect">
            <a:avLst/>
          </a:prstGeom>
          <a:solidFill>
            <a:srgbClr val="9AA8C4"/>
          </a:solidFill>
          <a:ln/>
        </p:spPr>
      </p:sp>
      <p:sp>
        <p:nvSpPr>
          <p:cNvPr id="41" name="Shape 39"/>
          <p:cNvSpPr/>
          <p:nvPr/>
        </p:nvSpPr>
        <p:spPr>
          <a:xfrm rot="-540000">
            <a:off x="9637776" y="4871923"/>
            <a:ext cx="932688" cy="41148"/>
          </a:xfrm>
          <a:prstGeom prst="rect">
            <a:avLst/>
          </a:prstGeom>
          <a:solidFill>
            <a:srgbClr val="9AA8C4"/>
          </a:solidFill>
          <a:ln/>
        </p:spPr>
      </p:sp>
      <p:sp>
        <p:nvSpPr>
          <p:cNvPr id="42" name="Shape 40"/>
          <p:cNvSpPr/>
          <p:nvPr/>
        </p:nvSpPr>
        <p:spPr>
          <a:xfrm rot="-540000">
            <a:off x="9637776" y="5073091"/>
            <a:ext cx="576072" cy="41148"/>
          </a:xfrm>
          <a:prstGeom prst="rect">
            <a:avLst/>
          </a:prstGeom>
          <a:solidFill>
            <a:srgbClr val="9AA8C4"/>
          </a:solidFill>
          <a:ln/>
        </p:spPr>
      </p:sp>
      <p:sp>
        <p:nvSpPr>
          <p:cNvPr id="43" name="Shape 41"/>
          <p:cNvSpPr/>
          <p:nvPr/>
        </p:nvSpPr>
        <p:spPr>
          <a:xfrm rot="900000">
            <a:off x="10881360" y="4846320"/>
            <a:ext cx="1143000" cy="868680"/>
          </a:xfrm>
          <a:prstGeom prst="roundRect">
            <a:avLst>
              <a:gd name="adj" fmla="val 5263"/>
            </a:avLst>
          </a:prstGeom>
          <a:solidFill>
            <a:srgbClr val="DCEBFF"/>
          </a:solidFill>
          <a:ln/>
          <a:effectLst>
            <a:outerShdw sx="100000" sy="100000" kx="0" ky="0" algn="bl" rotWithShape="0" blurRad="101600" dist="38100" dir="5400000">
              <a:srgbClr val="111726">
                <a:alpha val="16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 rot="900000">
            <a:off x="11064240" y="5089550"/>
            <a:ext cx="777240" cy="41148"/>
          </a:xfrm>
          <a:prstGeom prst="rect">
            <a:avLst/>
          </a:prstGeom>
          <a:solidFill>
            <a:srgbClr val="9AA8C4"/>
          </a:solidFill>
          <a:ln/>
        </p:spPr>
      </p:sp>
      <p:sp>
        <p:nvSpPr>
          <p:cNvPr id="45" name="Shape 43"/>
          <p:cNvSpPr/>
          <p:nvPr/>
        </p:nvSpPr>
        <p:spPr>
          <a:xfrm rot="900000">
            <a:off x="11064240" y="5263286"/>
            <a:ext cx="480060" cy="41148"/>
          </a:xfrm>
          <a:prstGeom prst="rect">
            <a:avLst/>
          </a:prstGeom>
          <a:solidFill>
            <a:srgbClr val="9AA8C4"/>
          </a:solidFill>
          <a:ln/>
        </p:spPr>
      </p:sp>
      <p:sp>
        <p:nvSpPr>
          <p:cNvPr id="46" name="Shape 44"/>
          <p:cNvSpPr/>
          <p:nvPr/>
        </p:nvSpPr>
        <p:spPr>
          <a:xfrm>
            <a:off x="914400" y="1371600"/>
            <a:ext cx="786384" cy="786384"/>
          </a:xfrm>
          <a:prstGeom prst="roundRect">
            <a:avLst>
              <a:gd name="adj" fmla="val 18605"/>
            </a:avLst>
          </a:prstGeom>
          <a:solidFill>
            <a:srgbClr val="2563EB"/>
          </a:solidFill>
          <a:ln/>
        </p:spPr>
      </p:sp>
      <p:sp>
        <p:nvSpPr>
          <p:cNvPr id="47" name="Text 45"/>
          <p:cNvSpPr/>
          <p:nvPr/>
        </p:nvSpPr>
        <p:spPr>
          <a:xfrm>
            <a:off x="914400" y="1371600"/>
            <a:ext cx="7863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</a:t>
            </a:r>
            <a:endParaRPr lang="en-US" sz="2200" dirty="0"/>
          </a:p>
        </p:txBody>
      </p:sp>
      <p:sp>
        <p:nvSpPr>
          <p:cNvPr id="48" name="Text 46"/>
          <p:cNvSpPr/>
          <p:nvPr/>
        </p:nvSpPr>
        <p:spPr>
          <a:xfrm>
            <a:off x="868680" y="2468880"/>
            <a:ext cx="6400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플래나이</a:t>
            </a:r>
            <a:endParaRPr lang="en-US" sz="6200" dirty="0"/>
          </a:p>
        </p:txBody>
      </p:sp>
      <p:sp>
        <p:nvSpPr>
          <p:cNvPr id="49" name="Text 47"/>
          <p:cNvSpPr/>
          <p:nvPr/>
        </p:nvSpPr>
        <p:spPr>
          <a:xfrm>
            <a:off x="932688" y="361188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600" kern="0" dirty="0">
                <a:solidFill>
                  <a:srgbClr val="7E93B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PLANAI</a:t>
            </a:r>
            <a:endParaRPr lang="en-US" sz="1500" dirty="0"/>
          </a:p>
        </p:txBody>
      </p:sp>
      <p:sp>
        <p:nvSpPr>
          <p:cNvPr id="50" name="Text 48"/>
          <p:cNvSpPr/>
          <p:nvPr/>
        </p:nvSpPr>
        <p:spPr>
          <a:xfrm>
            <a:off x="914400" y="416052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8FB4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쏟아지는 쪽지를, 흐름으로</a:t>
            </a:r>
            <a:endParaRPr lang="en-US" sz="2700" dirty="0"/>
          </a:p>
        </p:txBody>
      </p:sp>
      <p:sp>
        <p:nvSpPr>
          <p:cNvPr id="51" name="Text 49"/>
          <p:cNvSpPr/>
          <p:nvPr/>
        </p:nvSpPr>
        <p:spPr>
          <a:xfrm>
            <a:off x="914400" y="489204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C7D4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마감·제출·취합 일정과 업무 메모를 한곳에 모으고,</a:t>
            </a:r>
            <a:endParaRPr lang="en-US" sz="14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C7D4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정리·검색·브리핑을 돕는 로컬 우선 업무 플래너.</a:t>
            </a:r>
            <a:endParaRPr lang="en-US" sz="14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583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2563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914400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F26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쪽지는 계속 쏟아지는데,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822960" y="1536192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2563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정리할 시간은 없다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822960" y="2468880"/>
            <a:ext cx="548640" cy="548640"/>
          </a:xfrm>
          <a:prstGeom prst="ellipse">
            <a:avLst/>
          </a:prstGeom>
          <a:solidFill>
            <a:srgbClr val="2563E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2611526"/>
            <a:ext cx="263347" cy="26334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72768" y="2432304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26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쪽지가 여기저기 흩어진다</a:t>
            </a:r>
            <a:endParaRPr lang="en-US" sz="1650" dirty="0"/>
          </a:p>
        </p:txBody>
      </p:sp>
      <p:sp>
        <p:nvSpPr>
          <p:cNvPr id="8" name="Text 5"/>
          <p:cNvSpPr/>
          <p:nvPr/>
        </p:nvSpPr>
        <p:spPr>
          <a:xfrm>
            <a:off x="1572768" y="2779776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회의 메모, 취합 요청, 제출 목록이 앱마다 따로 논다.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822960" y="3429000"/>
            <a:ext cx="548640" cy="548640"/>
          </a:xfrm>
          <a:prstGeom prst="ellipse">
            <a:avLst/>
          </a:prstGeom>
          <a:solidFill>
            <a:srgbClr val="2563EB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5606" y="357164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572768" y="3392424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26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마감이 코앞인데 안 보인다</a:t>
            </a:r>
            <a:endParaRPr lang="en-US" sz="1650" dirty="0"/>
          </a:p>
        </p:txBody>
      </p:sp>
      <p:sp>
        <p:nvSpPr>
          <p:cNvPr id="12" name="Text 8"/>
          <p:cNvSpPr/>
          <p:nvPr/>
        </p:nvSpPr>
        <p:spPr>
          <a:xfrm>
            <a:off x="1572768" y="3739896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무엇부터 급한지 한눈에 들어오지 않는다.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822960" y="4389120"/>
            <a:ext cx="548640" cy="548640"/>
          </a:xfrm>
          <a:prstGeom prst="ellipse">
            <a:avLst/>
          </a:prstGeom>
          <a:solidFill>
            <a:srgbClr val="2563EB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5606" y="4531766"/>
            <a:ext cx="263347" cy="263347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572768" y="4352544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26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분류할 엄두가 안 난다</a:t>
            </a:r>
            <a:endParaRPr lang="en-US" sz="1650" dirty="0"/>
          </a:p>
        </p:txBody>
      </p:sp>
      <p:sp>
        <p:nvSpPr>
          <p:cNvPr id="16" name="Text 11"/>
          <p:cNvSpPr/>
          <p:nvPr/>
        </p:nvSpPr>
        <p:spPr>
          <a:xfrm>
            <a:off x="1572768" y="4700016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쌓아두기만 하다 결국 어디에 뒀는지 잊는다.</a:t>
            </a:r>
            <a:endParaRPr lang="en-US" sz="1250" dirty="0"/>
          </a:p>
        </p:txBody>
      </p:sp>
      <p:sp>
        <p:nvSpPr>
          <p:cNvPr id="17" name="Shape 12"/>
          <p:cNvSpPr/>
          <p:nvPr/>
        </p:nvSpPr>
        <p:spPr>
          <a:xfrm>
            <a:off x="822960" y="5349240"/>
            <a:ext cx="548640" cy="548640"/>
          </a:xfrm>
          <a:prstGeom prst="ellipse">
            <a:avLst/>
          </a:prstGeom>
          <a:solidFill>
            <a:srgbClr val="2563EB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5606" y="5491886"/>
            <a:ext cx="263347" cy="263347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572768" y="5312664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26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"그거 어디 적었더라"</a:t>
            </a:r>
            <a:endParaRPr lang="en-US" sz="1650" dirty="0"/>
          </a:p>
        </p:txBody>
      </p:sp>
      <p:sp>
        <p:nvSpPr>
          <p:cNvPr id="20" name="Text 14"/>
          <p:cNvSpPr/>
          <p:nvPr/>
        </p:nvSpPr>
        <p:spPr>
          <a:xfrm>
            <a:off x="1572768" y="5660136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필요할 때마다 메모를 뒤지느라 시간을 쓴다.</a:t>
            </a:r>
            <a:endParaRPr lang="en-US" sz="1250" dirty="0"/>
          </a:p>
        </p:txBody>
      </p:sp>
      <p:sp>
        <p:nvSpPr>
          <p:cNvPr id="21" name="Shape 15"/>
          <p:cNvSpPr/>
          <p:nvPr/>
        </p:nvSpPr>
        <p:spPr>
          <a:xfrm rot="-720000">
            <a:off x="7772400" y="1371600"/>
            <a:ext cx="1371600" cy="1005840"/>
          </a:xfrm>
          <a:prstGeom prst="roundRect">
            <a:avLst>
              <a:gd name="adj" fmla="val 4545"/>
            </a:avLst>
          </a:prstGeom>
          <a:solidFill>
            <a:srgbClr val="FFF3C4"/>
          </a:solidFill>
          <a:ln/>
          <a:effectLst>
            <a:outerShdw sx="100000" sy="100000" kx="0" ky="0" algn="bl" rotWithShape="0" blurRad="101600" dist="38100" dir="5400000">
              <a:srgbClr val="111726">
                <a:alpha val="16000"/>
              </a:srgbClr>
            </a:outerShdw>
          </a:effectLst>
        </p:spPr>
      </p:sp>
      <p:sp>
        <p:nvSpPr>
          <p:cNvPr id="22" name="Text 16"/>
          <p:cNvSpPr/>
          <p:nvPr/>
        </p:nvSpPr>
        <p:spPr>
          <a:xfrm rot="-720000">
            <a:off x="7772400" y="13716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450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제출 마감</a:t>
            </a:r>
            <a:endParaRPr lang="en-US" sz="1050" dirty="0"/>
          </a:p>
        </p:txBody>
      </p:sp>
      <p:sp>
        <p:nvSpPr>
          <p:cNvPr id="23" name="Shape 17"/>
          <p:cNvSpPr/>
          <p:nvPr/>
        </p:nvSpPr>
        <p:spPr>
          <a:xfrm rot="480000">
            <a:off x="9418320" y="1143000"/>
            <a:ext cx="1371600" cy="1005840"/>
          </a:xfrm>
          <a:prstGeom prst="roundRect">
            <a:avLst>
              <a:gd name="adj" fmla="val 4545"/>
            </a:avLst>
          </a:prstGeom>
          <a:solidFill>
            <a:srgbClr val="DCEBFF"/>
          </a:solidFill>
          <a:ln/>
          <a:effectLst>
            <a:outerShdw sx="100000" sy="100000" kx="0" ky="0" algn="bl" rotWithShape="0" blurRad="101600" dist="38100" dir="5400000">
              <a:srgbClr val="111726">
                <a:alpha val="16000"/>
              </a:srgbClr>
            </a:outerShdw>
          </a:effectLst>
        </p:spPr>
      </p:sp>
      <p:sp>
        <p:nvSpPr>
          <p:cNvPr id="24" name="Text 18"/>
          <p:cNvSpPr/>
          <p:nvPr/>
        </p:nvSpPr>
        <p:spPr>
          <a:xfrm rot="480000">
            <a:off x="9418320" y="11430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450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회의 메모</a:t>
            </a:r>
            <a:endParaRPr lang="en-US" sz="1050" dirty="0"/>
          </a:p>
        </p:txBody>
      </p:sp>
      <p:sp>
        <p:nvSpPr>
          <p:cNvPr id="25" name="Shape 19"/>
          <p:cNvSpPr/>
          <p:nvPr/>
        </p:nvSpPr>
        <p:spPr>
          <a:xfrm rot="-300000">
            <a:off x="8595360" y="2423160"/>
            <a:ext cx="1463040" cy="1051560"/>
          </a:xfrm>
          <a:prstGeom prst="roundRect">
            <a:avLst>
              <a:gd name="adj" fmla="val 4348"/>
            </a:avLst>
          </a:prstGeom>
          <a:solidFill>
            <a:srgbClr val="FFE7D6"/>
          </a:solidFill>
          <a:ln/>
          <a:effectLst>
            <a:outerShdw sx="100000" sy="100000" kx="0" ky="0" algn="bl" rotWithShape="0" blurRad="101600" dist="38100" dir="5400000">
              <a:srgbClr val="111726">
                <a:alpha val="16000"/>
              </a:srgbClr>
            </a:outerShdw>
          </a:effectLst>
        </p:spPr>
      </p:sp>
      <p:sp>
        <p:nvSpPr>
          <p:cNvPr id="26" name="Text 20"/>
          <p:cNvSpPr/>
          <p:nvPr/>
        </p:nvSpPr>
        <p:spPr>
          <a:xfrm rot="-300000">
            <a:off x="8595360" y="2423160"/>
            <a:ext cx="1463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450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취합 요청</a:t>
            </a:r>
            <a:endParaRPr lang="en-US" sz="1050" dirty="0"/>
          </a:p>
        </p:txBody>
      </p:sp>
      <p:sp>
        <p:nvSpPr>
          <p:cNvPr id="27" name="Shape 21"/>
          <p:cNvSpPr/>
          <p:nvPr/>
        </p:nvSpPr>
        <p:spPr>
          <a:xfrm rot="660000">
            <a:off x="7498080" y="3566160"/>
            <a:ext cx="1371600" cy="1005840"/>
          </a:xfrm>
          <a:prstGeom prst="roundRect">
            <a:avLst>
              <a:gd name="adj" fmla="val 4545"/>
            </a:avLst>
          </a:prstGeom>
          <a:solidFill>
            <a:srgbClr val="DCEBFF"/>
          </a:solidFill>
          <a:ln/>
          <a:effectLst>
            <a:outerShdw sx="100000" sy="100000" kx="0" ky="0" algn="bl" rotWithShape="0" blurRad="101600" dist="38100" dir="5400000">
              <a:srgbClr val="111726">
                <a:alpha val="16000"/>
              </a:srgbClr>
            </a:outerShdw>
          </a:effectLst>
        </p:spPr>
      </p:sp>
      <p:sp>
        <p:nvSpPr>
          <p:cNvPr id="28" name="Text 22"/>
          <p:cNvSpPr/>
          <p:nvPr/>
        </p:nvSpPr>
        <p:spPr>
          <a:xfrm rot="660000">
            <a:off x="7498080" y="356616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450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교육 이수</a:t>
            </a:r>
            <a:endParaRPr lang="en-US" sz="1050" dirty="0"/>
          </a:p>
        </p:txBody>
      </p:sp>
      <p:sp>
        <p:nvSpPr>
          <p:cNvPr id="29" name="Shape 23"/>
          <p:cNvSpPr/>
          <p:nvPr/>
        </p:nvSpPr>
        <p:spPr>
          <a:xfrm rot="-540000">
            <a:off x="9692640" y="3611880"/>
            <a:ext cx="1417320" cy="1051560"/>
          </a:xfrm>
          <a:prstGeom prst="roundRect">
            <a:avLst>
              <a:gd name="adj" fmla="val 4348"/>
            </a:avLst>
          </a:prstGeom>
          <a:solidFill>
            <a:srgbClr val="FFF3C4"/>
          </a:solidFill>
          <a:ln/>
          <a:effectLst>
            <a:outerShdw sx="100000" sy="100000" kx="0" ky="0" algn="bl" rotWithShape="0" blurRad="101600" dist="38100" dir="5400000">
              <a:srgbClr val="111726">
                <a:alpha val="16000"/>
              </a:srgbClr>
            </a:outerShdw>
          </a:effectLst>
        </p:spPr>
      </p:sp>
      <p:sp>
        <p:nvSpPr>
          <p:cNvPr id="30" name="Text 24"/>
          <p:cNvSpPr/>
          <p:nvPr/>
        </p:nvSpPr>
        <p:spPr>
          <a:xfrm rot="-540000">
            <a:off x="9692640" y="3611880"/>
            <a:ext cx="1417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450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실적 보고</a:t>
            </a:r>
            <a:endParaRPr lang="en-US" sz="1050" dirty="0"/>
          </a:p>
        </p:txBody>
      </p:sp>
      <p:sp>
        <p:nvSpPr>
          <p:cNvPr id="31" name="Shape 25"/>
          <p:cNvSpPr/>
          <p:nvPr/>
        </p:nvSpPr>
        <p:spPr>
          <a:xfrm rot="300000">
            <a:off x="8778240" y="4754880"/>
            <a:ext cx="1371600" cy="100584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11726">
                <a:alpha val="16000"/>
              </a:srgbClr>
            </a:outerShdw>
          </a:effectLst>
        </p:spPr>
      </p:sp>
      <p:sp>
        <p:nvSpPr>
          <p:cNvPr id="32" name="Text 26"/>
          <p:cNvSpPr/>
          <p:nvPr/>
        </p:nvSpPr>
        <p:spPr>
          <a:xfrm rot="300000">
            <a:off x="8778240" y="475488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450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선행조사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583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2563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9144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6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적기만 하면, 나머지는 알아서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2057400"/>
            <a:ext cx="3383280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111726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88720" y="2395728"/>
            <a:ext cx="566928" cy="566928"/>
          </a:xfrm>
          <a:prstGeom prst="ellipse">
            <a:avLst/>
          </a:prstGeom>
          <a:solidFill>
            <a:srgbClr val="2563E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36121" y="2543129"/>
            <a:ext cx="272125" cy="27212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337560" y="233172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D6E2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188720" y="31546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6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쏟아 넣는다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1188720" y="361188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쪽지를 그대로 붙여 넣거나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줄로 말하면 됩니다.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663440" y="2057400"/>
            <a:ext cx="3383280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111726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029200" y="2395728"/>
            <a:ext cx="566928" cy="566928"/>
          </a:xfrm>
          <a:prstGeom prst="ellipse">
            <a:avLst/>
          </a:prstGeom>
          <a:solidFill>
            <a:srgbClr val="2563EB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6601" y="2543129"/>
            <a:ext cx="272125" cy="272125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178040" y="233172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D6E2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3400" dirty="0"/>
          </a:p>
        </p:txBody>
      </p:sp>
      <p:sp>
        <p:nvSpPr>
          <p:cNvPr id="14" name="Text 10"/>
          <p:cNvSpPr/>
          <p:nvPr/>
        </p:nvSpPr>
        <p:spPr>
          <a:xfrm>
            <a:off x="5029200" y="31546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6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알아서 묶인다</a:t>
            </a:r>
            <a:endParaRPr lang="en-US" sz="1900" dirty="0"/>
          </a:p>
        </p:txBody>
      </p:sp>
      <p:sp>
        <p:nvSpPr>
          <p:cNvPr id="15" name="Text 11"/>
          <p:cNvSpPr/>
          <p:nvPr/>
        </p:nvSpPr>
        <p:spPr>
          <a:xfrm>
            <a:off x="5029200" y="361188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프로젝트·세부 항목으로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분류되고 제목까지 붙습니다.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8503920" y="2057400"/>
            <a:ext cx="3383280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111726">
                <a:alpha val="1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869680" y="2395728"/>
            <a:ext cx="566928" cy="566928"/>
          </a:xfrm>
          <a:prstGeom prst="ellipse">
            <a:avLst/>
          </a:prstGeom>
          <a:solidFill>
            <a:srgbClr val="2563EB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17081" y="2543129"/>
            <a:ext cx="272125" cy="272125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1018520" y="233172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D6E2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3400" dirty="0"/>
          </a:p>
        </p:txBody>
      </p:sp>
      <p:sp>
        <p:nvSpPr>
          <p:cNvPr id="20" name="Text 15"/>
          <p:cNvSpPr/>
          <p:nvPr/>
        </p:nvSpPr>
        <p:spPr>
          <a:xfrm>
            <a:off x="8869680" y="31546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6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흐름이 보인다</a:t>
            </a:r>
            <a:endParaRPr lang="en-US" sz="1900" dirty="0"/>
          </a:p>
        </p:txBody>
      </p:sp>
      <p:sp>
        <p:nvSpPr>
          <p:cNvPr id="21" name="Text 16"/>
          <p:cNvSpPr/>
          <p:nvPr/>
        </p:nvSpPr>
        <p:spPr>
          <a:xfrm>
            <a:off x="8869680" y="361188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달력에 마감이 서고,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관련 노트와 일정이 이어집니다.</a:t>
            </a:r>
            <a:endParaRPr lang="en-US" sz="1300" dirty="0"/>
          </a:p>
        </p:txBody>
      </p:sp>
      <p:sp>
        <p:nvSpPr>
          <p:cNvPr id="22" name="Shape 17"/>
          <p:cNvSpPr/>
          <p:nvPr/>
        </p:nvSpPr>
        <p:spPr>
          <a:xfrm>
            <a:off x="822960" y="5029200"/>
            <a:ext cx="10543032" cy="868680"/>
          </a:xfrm>
          <a:prstGeom prst="roundRect">
            <a:avLst>
              <a:gd name="adj" fmla="val 10526"/>
            </a:avLst>
          </a:prstGeom>
          <a:solidFill>
            <a:srgbClr val="E8F0FE"/>
          </a:solidFill>
          <a:ln/>
        </p:spPr>
      </p:sp>
      <p:sp>
        <p:nvSpPr>
          <p:cNvPr id="23" name="Text 18"/>
          <p:cNvSpPr/>
          <p:nvPr/>
        </p:nvSpPr>
        <p:spPr>
          <a:xfrm>
            <a:off x="1143000" y="5029200"/>
            <a:ext cx="9966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6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AI는 바로 저장하지 않습니다. </a:t>
            </a:r>
            <a:pPr indent="0" marL="0">
              <a:buNone/>
            </a:pPr>
            <a:r>
              <a:rPr lang="en-US" sz="1400" dirty="0">
                <a:solidFill>
                  <a:srgbClr val="3B4A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초안을 먼저 보여 주고, 확인한 것만 반영합니다.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583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2563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빠른 입력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914400"/>
            <a:ext cx="685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F26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줄이면, 일정이 된다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822960" y="1920240"/>
            <a:ext cx="576072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2563EB"/>
            </a:solidFill>
            <a:prstDash val="solid"/>
          </a:ln>
          <a:effectLst>
            <a:outerShdw sx="100000" sy="100000" kx="0" ky="0" algn="bl" rotWithShape="0" blurRad="152400" dist="50800" dir="5400000">
              <a:srgbClr val="111726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51560" y="1920240"/>
            <a:ext cx="5394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</a:t>
            </a:r>
            <a:pPr indent="0" marL="0">
              <a:buNone/>
            </a:pPr>
            <a:r>
              <a:rPr lang="en-US" sz="1600" b="1" dirty="0">
                <a:solidFill>
                  <a:srgbClr val="1F26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다음주 금요일까지 교육 이수 후 실적 제출</a:t>
            </a:r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”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22960" y="2944368"/>
            <a:ext cx="310896" cy="310896"/>
          </a:xfrm>
          <a:prstGeom prst="ellipse">
            <a:avLst/>
          </a:prstGeom>
          <a:solidFill>
            <a:srgbClr val="E8F0FE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3793" y="3025201"/>
            <a:ext cx="149230" cy="14923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261872" y="2871216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26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날짜·시간·종류까지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1261872" y="3218688"/>
            <a:ext cx="5303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마감 표현을 읽어 실제 일정으로 바꿉니다.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822960" y="3995928"/>
            <a:ext cx="310896" cy="310896"/>
          </a:xfrm>
          <a:prstGeom prst="ellipse">
            <a:avLst/>
          </a:prstGeom>
          <a:solidFill>
            <a:srgbClr val="E8F0FE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793" y="4076761"/>
            <a:ext cx="149230" cy="14923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261872" y="3922776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26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 후 반영</a:t>
            </a:r>
            <a:endParaRPr lang="en-US" sz="1550" dirty="0"/>
          </a:p>
        </p:txBody>
      </p:sp>
      <p:sp>
        <p:nvSpPr>
          <p:cNvPr id="13" name="Text 9"/>
          <p:cNvSpPr/>
          <p:nvPr/>
        </p:nvSpPr>
        <p:spPr>
          <a:xfrm>
            <a:off x="1261872" y="4270248"/>
            <a:ext cx="5303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초안 카드에서 원하는 항목만 골라 넣습니다.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822960" y="5047488"/>
            <a:ext cx="310896" cy="310896"/>
          </a:xfrm>
          <a:prstGeom prst="ellipse">
            <a:avLst/>
          </a:prstGeom>
          <a:solidFill>
            <a:srgbClr val="E8F0FE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3793" y="5128321"/>
            <a:ext cx="149230" cy="14923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261872" y="4974336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26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반복은 규칙으로</a:t>
            </a:r>
            <a:endParaRPr lang="en-US" sz="1550" dirty="0"/>
          </a:p>
        </p:txBody>
      </p:sp>
      <p:sp>
        <p:nvSpPr>
          <p:cNvPr id="17" name="Text 12"/>
          <p:cNvSpPr/>
          <p:nvPr/>
        </p:nvSpPr>
        <p:spPr>
          <a:xfrm>
            <a:off x="1261872" y="5321808"/>
            <a:ext cx="5303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"제출은 오후 6시" 같은 기준을 기억해 다음부터 자동 적용합니다.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7123176" y="512064"/>
            <a:ext cx="5039004" cy="5870448"/>
          </a:xfrm>
          <a:prstGeom prst="roundRect">
            <a:avLst>
              <a:gd name="adj" fmla="val 1633"/>
            </a:avLst>
          </a:prstGeom>
          <a:solidFill>
            <a:srgbClr val="FFFFFF"/>
          </a:solidFill>
          <a:ln w="12700">
            <a:solidFill>
              <a:srgbClr val="DDE5F2"/>
            </a:solidFill>
            <a:prstDash val="solid"/>
          </a:ln>
          <a:effectLst>
            <a:outerShdw sx="100000" sy="100000" kx="0" ky="0" algn="bl" rotWithShape="0" blurRad="152400" dist="50800" dir="5400000">
              <a:srgbClr val="111726">
                <a:alpha val="10000"/>
              </a:srgbClr>
            </a:outerShdw>
          </a:effectLst>
        </p:spPr>
      </p:sp>
      <p:pic>
        <p:nvPicPr>
          <p:cNvPr id="19" name="Image 3" descr="C:\Users\sohnj\Project\260627 AI Planner 클로드\docs\images\ai-schedu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78040" y="566928"/>
            <a:ext cx="4929276" cy="57607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583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2563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분류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9144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6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던져두면, 알아서 제자리로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 rot="-600000">
            <a:off x="868680" y="2011680"/>
            <a:ext cx="1325880" cy="960120"/>
          </a:xfrm>
          <a:prstGeom prst="roundRect">
            <a:avLst>
              <a:gd name="adj" fmla="val 4762"/>
            </a:avLst>
          </a:prstGeom>
          <a:solidFill>
            <a:srgbClr val="FFF3C4"/>
          </a:solidFill>
          <a:ln/>
          <a:effectLst>
            <a:outerShdw sx="100000" sy="100000" kx="0" ky="0" algn="bl" rotWithShape="0" blurRad="101600" dist="38100" dir="5400000">
              <a:srgbClr val="111726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 rot="-600000">
            <a:off x="868680" y="2011680"/>
            <a:ext cx="1325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450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선행문헌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4450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대조표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 rot="420000">
            <a:off x="868680" y="3154680"/>
            <a:ext cx="1325880" cy="960120"/>
          </a:xfrm>
          <a:prstGeom prst="roundRect">
            <a:avLst>
              <a:gd name="adj" fmla="val 4762"/>
            </a:avLst>
          </a:prstGeom>
          <a:solidFill>
            <a:srgbClr val="DCEBFF"/>
          </a:solidFill>
          <a:ln/>
          <a:effectLst>
            <a:outerShdw sx="100000" sy="100000" kx="0" ky="0" algn="bl" rotWithShape="0" blurRad="101600" dist="38100" dir="5400000">
              <a:srgbClr val="111726">
                <a:alpha val="1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 rot="420000">
            <a:off x="868680" y="3154680"/>
            <a:ext cx="1325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450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협의 안건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 rot="-300000">
            <a:off x="868680" y="4297680"/>
            <a:ext cx="1325880" cy="960120"/>
          </a:xfrm>
          <a:prstGeom prst="roundRect">
            <a:avLst>
              <a:gd name="adj" fmla="val 4762"/>
            </a:avLst>
          </a:prstGeom>
          <a:solidFill>
            <a:srgbClr val="FFE7D6"/>
          </a:solidFill>
          <a:ln/>
          <a:effectLst>
            <a:outerShdw sx="100000" sy="100000" kx="0" ky="0" algn="bl" rotWithShape="0" blurRad="101600" dist="38100" dir="5400000">
              <a:srgbClr val="111726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 rot="-300000">
            <a:off x="868680" y="4297680"/>
            <a:ext cx="1325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450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실적 집계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331720" y="324612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9CB6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3063240" y="2011680"/>
            <a:ext cx="2286000" cy="960120"/>
          </a:xfrm>
          <a:prstGeom prst="roundRect">
            <a:avLst>
              <a:gd name="adj" fmla="val 7619"/>
            </a:avLst>
          </a:prstGeom>
          <a:solidFill>
            <a:srgbClr val="F5F8FF"/>
          </a:solidFill>
          <a:ln w="12700">
            <a:solidFill>
              <a:srgbClr val="DDE5F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91840" y="2395728"/>
            <a:ext cx="182880" cy="18288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3" name="Text 11"/>
          <p:cNvSpPr/>
          <p:nvPr/>
        </p:nvSpPr>
        <p:spPr>
          <a:xfrm>
            <a:off x="3566160" y="2011680"/>
            <a:ext cx="1645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6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선행기술조사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063240" y="3154680"/>
            <a:ext cx="2286000" cy="960120"/>
          </a:xfrm>
          <a:prstGeom prst="roundRect">
            <a:avLst>
              <a:gd name="adj" fmla="val 7619"/>
            </a:avLst>
          </a:prstGeom>
          <a:solidFill>
            <a:srgbClr val="F5F8FF"/>
          </a:solidFill>
          <a:ln w="12700">
            <a:solidFill>
              <a:srgbClr val="DDE5F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91840" y="3538728"/>
            <a:ext cx="182880" cy="18288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6" name="Text 14"/>
          <p:cNvSpPr/>
          <p:nvPr/>
        </p:nvSpPr>
        <p:spPr>
          <a:xfrm>
            <a:off x="3566160" y="3154680"/>
            <a:ext cx="1645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6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특허심사 AI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063240" y="4297680"/>
            <a:ext cx="2286000" cy="960120"/>
          </a:xfrm>
          <a:prstGeom prst="roundRect">
            <a:avLst>
              <a:gd name="adj" fmla="val 7619"/>
            </a:avLst>
          </a:prstGeom>
          <a:solidFill>
            <a:srgbClr val="F5F8FF"/>
          </a:solidFill>
          <a:ln w="12700">
            <a:solidFill>
              <a:srgbClr val="DDE5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91840" y="4681728"/>
            <a:ext cx="182880" cy="18288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9" name="Text 17"/>
          <p:cNvSpPr/>
          <p:nvPr/>
        </p:nvSpPr>
        <p:spPr>
          <a:xfrm>
            <a:off x="3566160" y="4297680"/>
            <a:ext cx="1645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6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943600" y="2167128"/>
            <a:ext cx="310896" cy="310896"/>
          </a:xfrm>
          <a:prstGeom prst="ellipse">
            <a:avLst/>
          </a:prstGeom>
          <a:solidFill>
            <a:srgbClr val="E8F0FE"/>
          </a:solidFill>
          <a:ln/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24433" y="2247961"/>
            <a:ext cx="149230" cy="149230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6382512" y="2093976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6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프로젝트·세부 항목 자동 배정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6382512" y="2459736"/>
            <a:ext cx="5257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노트를 백그라운드에서 읽고 알맞은 자리에 넣습니다.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5943600" y="3310128"/>
            <a:ext cx="310896" cy="310896"/>
          </a:xfrm>
          <a:prstGeom prst="ellipse">
            <a:avLst/>
          </a:prstGeom>
          <a:solidFill>
            <a:srgbClr val="E8F0FE"/>
          </a:solidFill>
          <a:ln/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24433" y="3390961"/>
            <a:ext cx="149230" cy="149230"/>
          </a:xfrm>
          <a:prstGeom prst="rect">
            <a:avLst/>
          </a:prstGeom>
        </p:spPr>
      </p:pic>
      <p:sp>
        <p:nvSpPr>
          <p:cNvPr id="26" name="Text 22"/>
          <p:cNvSpPr/>
          <p:nvPr/>
        </p:nvSpPr>
        <p:spPr>
          <a:xfrm>
            <a:off x="6382512" y="3236976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6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제목도 알아서</a:t>
            </a:r>
            <a:endParaRPr lang="en-US" sz="1600" dirty="0"/>
          </a:p>
        </p:txBody>
      </p:sp>
      <p:sp>
        <p:nvSpPr>
          <p:cNvPr id="27" name="Text 23"/>
          <p:cNvSpPr/>
          <p:nvPr/>
        </p:nvSpPr>
        <p:spPr>
          <a:xfrm>
            <a:off x="6382512" y="3602736"/>
            <a:ext cx="5257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내용만 적으면 AI가 짧은 제목을 붙입니다.</a:t>
            </a:r>
            <a:endParaRPr lang="en-US" sz="1250" dirty="0"/>
          </a:p>
        </p:txBody>
      </p:sp>
      <p:sp>
        <p:nvSpPr>
          <p:cNvPr id="28" name="Shape 24"/>
          <p:cNvSpPr/>
          <p:nvPr/>
        </p:nvSpPr>
        <p:spPr>
          <a:xfrm>
            <a:off x="5943600" y="4453128"/>
            <a:ext cx="310896" cy="310896"/>
          </a:xfrm>
          <a:prstGeom prst="ellipse">
            <a:avLst/>
          </a:prstGeom>
          <a:solidFill>
            <a:srgbClr val="E8F0FE"/>
          </a:solidFill>
          <a:ln/>
        </p:spPr>
      </p:sp>
      <p:pic>
        <p:nvPicPr>
          <p:cNvPr id="2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24433" y="4533961"/>
            <a:ext cx="149230" cy="149230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6382512" y="4379976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6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고치면 그때부터 고정</a:t>
            </a:r>
            <a:endParaRPr lang="en-US" sz="1600" dirty="0"/>
          </a:p>
        </p:txBody>
      </p:sp>
      <p:sp>
        <p:nvSpPr>
          <p:cNvPr id="31" name="Text 26"/>
          <p:cNvSpPr/>
          <p:nvPr/>
        </p:nvSpPr>
        <p:spPr>
          <a:xfrm>
            <a:off x="6382512" y="4745736"/>
            <a:ext cx="5257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손댄 분류와 제목은 자동 변경 대상에서 빠집니다.</a:t>
            </a:r>
            <a:endParaRPr lang="en-US" sz="1250" dirty="0"/>
          </a:p>
        </p:txBody>
      </p:sp>
      <p:sp>
        <p:nvSpPr>
          <p:cNvPr id="32" name="Shape 27"/>
          <p:cNvSpPr/>
          <p:nvPr/>
        </p:nvSpPr>
        <p:spPr>
          <a:xfrm>
            <a:off x="5943600" y="5532120"/>
            <a:ext cx="5715000" cy="685800"/>
          </a:xfrm>
          <a:prstGeom prst="roundRect">
            <a:avLst>
              <a:gd name="adj" fmla="val 13333"/>
            </a:avLst>
          </a:prstGeom>
          <a:solidFill>
            <a:srgbClr val="E8F0FE"/>
          </a:solidFill>
          <a:ln/>
        </p:spPr>
      </p:sp>
      <p:sp>
        <p:nvSpPr>
          <p:cNvPr id="33" name="Text 28"/>
          <p:cNvSpPr/>
          <p:nvPr/>
        </p:nvSpPr>
        <p:spPr>
          <a:xfrm>
            <a:off x="6217920" y="5532120"/>
            <a:ext cx="5212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분류하느라 쓰던 시간을 그대로 돌려받습니다.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583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2563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연결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914400"/>
            <a:ext cx="8686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6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따로 적은 것들이, 서로를 찾는다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68096" y="1911096"/>
            <a:ext cx="5165024" cy="1435608"/>
          </a:xfrm>
          <a:prstGeom prst="roundRect">
            <a:avLst>
              <a:gd name="adj" fmla="val 5732"/>
            </a:avLst>
          </a:prstGeom>
          <a:solidFill>
            <a:srgbClr val="FFFFFF"/>
          </a:solidFill>
          <a:ln w="12700">
            <a:solidFill>
              <a:srgbClr val="DDE5F2"/>
            </a:solidFill>
            <a:prstDash val="solid"/>
          </a:ln>
          <a:effectLst>
            <a:outerShdw sx="100000" sy="100000" kx="0" ky="0" algn="bl" rotWithShape="0" blurRad="152400" dist="50800" dir="5400000">
              <a:srgbClr val="111726">
                <a:alpha val="10000"/>
              </a:srgbClr>
            </a:outerShdw>
          </a:effectLst>
        </p:spPr>
      </p:sp>
      <p:pic>
        <p:nvPicPr>
          <p:cNvPr id="5" name="Image 0" descr="C:\Users\sohnj\Project\260627 AI Planner 클로드\docs\images\note-connect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965960"/>
            <a:ext cx="5055296" cy="13258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720840" y="1911096"/>
            <a:ext cx="4645152" cy="1435608"/>
          </a:xfrm>
          <a:prstGeom prst="roundRect">
            <a:avLst>
              <a:gd name="adj" fmla="val 5732"/>
            </a:avLst>
          </a:prstGeom>
          <a:solidFill>
            <a:srgbClr val="F5F8FF"/>
          </a:solidFill>
          <a:ln w="12700">
            <a:solidFill>
              <a:srgbClr val="DDE5F2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949440" y="20116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관련 노트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6949440" y="2377440"/>
            <a:ext cx="2057400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12700">
            <a:solidFill>
              <a:srgbClr val="DDE5F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086600" y="24688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6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선행기술조사 정리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7086600" y="2743200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보는 노트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9079992" y="2377440"/>
            <a:ext cx="2057400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12700">
            <a:solidFill>
              <a:srgbClr val="DDE5F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217152" y="24688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6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심사관 협의 준비 메모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9217152" y="2743200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맥락 · 제안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915400" y="2651760"/>
            <a:ext cx="219456" cy="219456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5" name="Text 12"/>
          <p:cNvSpPr/>
          <p:nvPr/>
        </p:nvSpPr>
        <p:spPr>
          <a:xfrm>
            <a:off x="8915400" y="263347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↔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822960" y="3703320"/>
            <a:ext cx="548640" cy="548640"/>
          </a:xfrm>
          <a:prstGeom prst="ellipse">
            <a:avLst/>
          </a:prstGeom>
          <a:solidFill>
            <a:srgbClr val="2563EB"/>
          </a:solidFill>
          <a:ln/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5606" y="3845966"/>
            <a:ext cx="263347" cy="263347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1572768" y="366674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6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노트 ↔ 일정</a:t>
            </a:r>
            <a:endParaRPr lang="en-US" sz="1700" dirty="0"/>
          </a:p>
        </p:txBody>
      </p:sp>
      <p:sp>
        <p:nvSpPr>
          <p:cNvPr id="19" name="Text 15"/>
          <p:cNvSpPr/>
          <p:nvPr/>
        </p:nvSpPr>
        <p:spPr>
          <a:xfrm>
            <a:off x="1572768" y="4032504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노트를 일정에 연결하면 양쪽에서 서로를 오갑니다. 관련 있어 보이는 일정은 먼저 추천해 줍니다.</a:t>
            </a:r>
            <a:endParaRPr lang="en-US" sz="1300" dirty="0"/>
          </a:p>
        </p:txBody>
      </p:sp>
      <p:sp>
        <p:nvSpPr>
          <p:cNvPr id="20" name="Shape 16"/>
          <p:cNvSpPr/>
          <p:nvPr/>
        </p:nvSpPr>
        <p:spPr>
          <a:xfrm>
            <a:off x="822960" y="4937760"/>
            <a:ext cx="548640" cy="548640"/>
          </a:xfrm>
          <a:prstGeom prst="ellipse">
            <a:avLst/>
          </a:prstGeom>
          <a:solidFill>
            <a:srgbClr val="2563EB"/>
          </a:solidFill>
          <a:ln/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5606" y="5080406"/>
            <a:ext cx="263347" cy="263347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1572768" y="490118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6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노트 ↔ 노트</a:t>
            </a:r>
            <a:endParaRPr lang="en-US" sz="1700" dirty="0"/>
          </a:p>
        </p:txBody>
      </p:sp>
      <p:sp>
        <p:nvSpPr>
          <p:cNvPr id="23" name="Text 18"/>
          <p:cNvSpPr/>
          <p:nvPr/>
        </p:nvSpPr>
        <p:spPr>
          <a:xfrm>
            <a:off x="1572768" y="5266944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맥락의 노트를 찾아 "관련 노트"로 제안합니다. 지난달에 적어둔 메모가 오늘 다시 떠오릅니다.</a:t>
            </a:r>
            <a:endParaRPr lang="en-US" sz="1300" dirty="0"/>
          </a:p>
        </p:txBody>
      </p:sp>
      <p:sp>
        <p:nvSpPr>
          <p:cNvPr id="24" name="Shape 19"/>
          <p:cNvSpPr/>
          <p:nvPr/>
        </p:nvSpPr>
        <p:spPr>
          <a:xfrm>
            <a:off x="822960" y="5989320"/>
            <a:ext cx="10543032" cy="566928"/>
          </a:xfrm>
          <a:prstGeom prst="roundRect">
            <a:avLst>
              <a:gd name="adj" fmla="val 14516"/>
            </a:avLst>
          </a:prstGeom>
          <a:solidFill>
            <a:srgbClr val="E8F0FE"/>
          </a:solidFill>
          <a:ln/>
        </p:spPr>
      </p:sp>
      <p:sp>
        <p:nvSpPr>
          <p:cNvPr id="25" name="Text 20"/>
          <p:cNvSpPr/>
          <p:nvPr/>
        </p:nvSpPr>
        <p:spPr>
          <a:xfrm>
            <a:off x="1143000" y="5989320"/>
            <a:ext cx="9966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흩어진 쪽지가 아니라, 이어진 기록이 됩니다.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086600" y="6583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2563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찾기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086600" y="914400"/>
            <a:ext cx="4480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2700" b="1" dirty="0">
                <a:solidFill>
                  <a:srgbClr val="1F26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"어디 적었더라?"</a:t>
            </a:r>
            <a:endParaRPr lang="en-US" sz="27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2700" b="1" dirty="0">
                <a:solidFill>
                  <a:srgbClr val="1F26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물어보면 찾아준다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68096" y="1316736"/>
            <a:ext cx="5160258" cy="4315968"/>
          </a:xfrm>
          <a:prstGeom prst="roundRect">
            <a:avLst>
              <a:gd name="adj" fmla="val 1907"/>
            </a:avLst>
          </a:prstGeom>
          <a:solidFill>
            <a:srgbClr val="FFFFFF"/>
          </a:solidFill>
          <a:ln w="12700">
            <a:solidFill>
              <a:srgbClr val="DDE5F2"/>
            </a:solidFill>
            <a:prstDash val="solid"/>
          </a:ln>
          <a:effectLst>
            <a:outerShdw sx="100000" sy="100000" kx="0" ky="0" algn="bl" rotWithShape="0" blurRad="152400" dist="50800" dir="5400000">
              <a:srgbClr val="111726">
                <a:alpha val="10000"/>
              </a:srgbClr>
            </a:outerShdw>
          </a:effectLst>
        </p:spPr>
      </p:sp>
      <p:pic>
        <p:nvPicPr>
          <p:cNvPr id="5" name="Image 0" descr="C:\Users\sohnj\Project\260627 AI Planner 클로드\docs\images\q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371600"/>
            <a:ext cx="5050530" cy="42062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086600" y="2532888"/>
            <a:ext cx="310896" cy="310896"/>
          </a:xfrm>
          <a:prstGeom prst="ellipse">
            <a:avLst/>
          </a:prstGeom>
          <a:solidFill>
            <a:srgbClr val="E3F6EF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7433" y="2613721"/>
            <a:ext cx="149230" cy="14923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525512" y="2459736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26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메모와 일정을 뒤져 답한다</a:t>
            </a:r>
            <a:endParaRPr lang="en-US" sz="1550" dirty="0"/>
          </a:p>
        </p:txBody>
      </p:sp>
      <p:sp>
        <p:nvSpPr>
          <p:cNvPr id="9" name="Text 5"/>
          <p:cNvSpPr/>
          <p:nvPr/>
        </p:nvSpPr>
        <p:spPr>
          <a:xfrm>
            <a:off x="7525512" y="2807208"/>
            <a:ext cx="4114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줄만 물으면 흩어진 기록을 대신 찾아 줍니다.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7086600" y="3648456"/>
            <a:ext cx="310896" cy="310896"/>
          </a:xfrm>
          <a:prstGeom prst="ellipse">
            <a:avLst/>
          </a:prstGeom>
          <a:solidFill>
            <a:srgbClr val="E3F6EF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67433" y="3729289"/>
            <a:ext cx="149230" cy="14923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7525512" y="3575304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26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근거를 눌러 바로 이동</a:t>
            </a:r>
            <a:endParaRPr lang="en-US" sz="1550" dirty="0"/>
          </a:p>
        </p:txBody>
      </p:sp>
      <p:sp>
        <p:nvSpPr>
          <p:cNvPr id="13" name="Text 8"/>
          <p:cNvSpPr/>
          <p:nvPr/>
        </p:nvSpPr>
        <p:spPr>
          <a:xfrm>
            <a:off x="7525512" y="3922776"/>
            <a:ext cx="4114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답변에 붙은 노트·일정을 클릭하면 그 화면으로 갑니다.</a:t>
            </a:r>
            <a:endParaRPr lang="en-US" sz="1250" dirty="0"/>
          </a:p>
        </p:txBody>
      </p:sp>
      <p:sp>
        <p:nvSpPr>
          <p:cNvPr id="14" name="Shape 9"/>
          <p:cNvSpPr/>
          <p:nvPr/>
        </p:nvSpPr>
        <p:spPr>
          <a:xfrm>
            <a:off x="7086600" y="4764024"/>
            <a:ext cx="310896" cy="310896"/>
          </a:xfrm>
          <a:prstGeom prst="ellipse">
            <a:avLst/>
          </a:prstGeom>
          <a:solidFill>
            <a:srgbClr val="E3F6EF"/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67433" y="4844857"/>
            <a:ext cx="149230" cy="14923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7525512" y="469087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26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찾았는지 보여 준다</a:t>
            </a:r>
            <a:endParaRPr lang="en-US" sz="1550" dirty="0"/>
          </a:p>
        </p:txBody>
      </p:sp>
      <p:sp>
        <p:nvSpPr>
          <p:cNvPr id="17" name="Text 11"/>
          <p:cNvSpPr/>
          <p:nvPr/>
        </p:nvSpPr>
        <p:spPr>
          <a:xfrm>
            <a:off x="7525512" y="5038344"/>
            <a:ext cx="4114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검색을 몇 번 했는지 함께 표시합니다.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377440" y="3291840"/>
            <a:ext cx="7772400" cy="7772400"/>
          </a:xfrm>
          <a:prstGeom prst="ellipse">
            <a:avLst/>
          </a:prstGeom>
          <a:solidFill>
            <a:srgbClr val="1D4ED8">
              <a:alpha val="1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229600" y="-2743200"/>
            <a:ext cx="6858000" cy="6858000"/>
          </a:xfrm>
          <a:prstGeom prst="ellipse">
            <a:avLst/>
          </a:prstGeom>
          <a:solidFill>
            <a:srgbClr val="2563EB">
              <a:alpha val="14000"/>
            </a:srgbClr>
          </a:solidFill>
          <a:ln/>
        </p:spPr>
      </p:sp>
      <p:sp>
        <p:nvSpPr>
          <p:cNvPr id="4" name="Shape 2"/>
          <p:cNvSpPr/>
          <p:nvPr/>
        </p:nvSpPr>
        <p:spPr>
          <a:xfrm rot="720000">
            <a:off x="1463040" y="1051560"/>
            <a:ext cx="155448" cy="25603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5" name="Shape 3"/>
          <p:cNvSpPr/>
          <p:nvPr/>
        </p:nvSpPr>
        <p:spPr>
          <a:xfrm rot="-1200000">
            <a:off x="2651760" y="731520"/>
            <a:ext cx="155448" cy="256032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6" name="Shape 4"/>
          <p:cNvSpPr/>
          <p:nvPr/>
        </p:nvSpPr>
        <p:spPr>
          <a:xfrm rot="1800000">
            <a:off x="4023360" y="1234440"/>
            <a:ext cx="155448" cy="256032"/>
          </a:xfrm>
          <a:prstGeom prst="rect">
            <a:avLst/>
          </a:prstGeom>
          <a:solidFill>
            <a:srgbClr val="60A5FA"/>
          </a:solidFill>
          <a:ln/>
        </p:spPr>
      </p:sp>
      <p:sp>
        <p:nvSpPr>
          <p:cNvPr id="7" name="Shape 5"/>
          <p:cNvSpPr/>
          <p:nvPr/>
        </p:nvSpPr>
        <p:spPr>
          <a:xfrm rot="-720000">
            <a:off x="5486400" y="640080"/>
            <a:ext cx="155448" cy="25603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8" name="Shape 6"/>
          <p:cNvSpPr/>
          <p:nvPr/>
        </p:nvSpPr>
        <p:spPr>
          <a:xfrm rot="1320000">
            <a:off x="6949440" y="1097280"/>
            <a:ext cx="155448" cy="256032"/>
          </a:xfrm>
          <a:prstGeom prst="rect">
            <a:avLst/>
          </a:prstGeom>
          <a:solidFill>
            <a:srgbClr val="F472B6"/>
          </a:solidFill>
          <a:ln/>
        </p:spPr>
      </p:sp>
      <p:sp>
        <p:nvSpPr>
          <p:cNvPr id="9" name="Shape 7"/>
          <p:cNvSpPr/>
          <p:nvPr/>
        </p:nvSpPr>
        <p:spPr>
          <a:xfrm rot="-1680000">
            <a:off x="8321040" y="777240"/>
            <a:ext cx="155448" cy="256032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0" name="Shape 8"/>
          <p:cNvSpPr/>
          <p:nvPr/>
        </p:nvSpPr>
        <p:spPr>
          <a:xfrm rot="960000">
            <a:off x="9692640" y="1280160"/>
            <a:ext cx="155448" cy="256032"/>
          </a:xfrm>
          <a:prstGeom prst="rect">
            <a:avLst/>
          </a:prstGeom>
          <a:solidFill>
            <a:srgbClr val="60A5FA"/>
          </a:solidFill>
          <a:ln/>
        </p:spPr>
      </p:sp>
      <p:sp>
        <p:nvSpPr>
          <p:cNvPr id="11" name="Shape 9"/>
          <p:cNvSpPr/>
          <p:nvPr/>
        </p:nvSpPr>
        <p:spPr>
          <a:xfrm rot="-1080000">
            <a:off x="10881360" y="868680"/>
            <a:ext cx="155448" cy="25603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2" name="Shape 10"/>
          <p:cNvSpPr/>
          <p:nvPr/>
        </p:nvSpPr>
        <p:spPr>
          <a:xfrm rot="480000">
            <a:off x="3291840" y="1828800"/>
            <a:ext cx="155448" cy="256032"/>
          </a:xfrm>
          <a:prstGeom prst="rect">
            <a:avLst/>
          </a:prstGeom>
          <a:solidFill>
            <a:srgbClr val="F472B6"/>
          </a:solidFill>
          <a:ln/>
        </p:spPr>
      </p:sp>
      <p:sp>
        <p:nvSpPr>
          <p:cNvPr id="13" name="Shape 11"/>
          <p:cNvSpPr/>
          <p:nvPr/>
        </p:nvSpPr>
        <p:spPr>
          <a:xfrm rot="-1440000">
            <a:off x="7680960" y="1874520"/>
            <a:ext cx="155448" cy="256032"/>
          </a:xfrm>
          <a:prstGeom prst="rect">
            <a:avLst/>
          </a:prstGeom>
          <a:solidFill>
            <a:srgbClr val="60A5FA"/>
          </a:solidFill>
          <a:ln/>
        </p:spPr>
      </p:sp>
      <p:sp>
        <p:nvSpPr>
          <p:cNvPr id="14" name="Shape 12"/>
          <p:cNvSpPr/>
          <p:nvPr/>
        </p:nvSpPr>
        <p:spPr>
          <a:xfrm rot="1080000">
            <a:off x="4754880" y="1965960"/>
            <a:ext cx="155448" cy="256032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5" name="Shape 13"/>
          <p:cNvSpPr/>
          <p:nvPr/>
        </p:nvSpPr>
        <p:spPr>
          <a:xfrm rot="-480000">
            <a:off x="9144000" y="2103120"/>
            <a:ext cx="155448" cy="25603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23317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FB4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END OF DAY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22960" y="2606040"/>
            <a:ext cx="8686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하루도, 고생했어요</a:t>
            </a:r>
            <a:endParaRPr lang="en-US" sz="3800" dirty="0"/>
          </a:p>
        </p:txBody>
      </p:sp>
      <p:sp>
        <p:nvSpPr>
          <p:cNvPr id="18" name="Text 16"/>
          <p:cNvSpPr/>
          <p:nvPr/>
        </p:nvSpPr>
        <p:spPr>
          <a:xfrm>
            <a:off x="868680" y="3474720"/>
            <a:ext cx="8686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C7D4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 마지막 일정을 끝내면 색종이가 터지고 응원 배너가 뜹니다.</a:t>
            </a:r>
            <a:endParaRPr lang="en-US" sz="15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C7D4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 일을 지우는 앱이 아니라, 하루를 잘 마쳤다고 말해 주는 앱이고 싶었습니다.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1179576" y="4471416"/>
            <a:ext cx="9389582" cy="2304288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DDE5F2"/>
            </a:solidFill>
            <a:prstDash val="solid"/>
          </a:ln>
          <a:effectLst>
            <a:outerShdw sx="100000" sy="100000" kx="0" ky="0" algn="bl" rotWithShape="0" blurRad="152400" dist="50800" dir="5400000">
              <a:srgbClr val="111726">
                <a:alpha val="10000"/>
              </a:srgbClr>
            </a:outerShdw>
          </a:effectLst>
        </p:spPr>
      </p:sp>
      <p:pic>
        <p:nvPicPr>
          <p:cNvPr id="20" name="Image 0" descr="C:\Users\sohnj\Project\260627 AI Planner 클로드\docs\images\celebrate-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4440" y="4526280"/>
            <a:ext cx="9279854" cy="21945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583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2563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한눈에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9144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6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뭐가 급한지, 한눈에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68096" y="1819656"/>
            <a:ext cx="6693408" cy="4681728"/>
          </a:xfrm>
          <a:prstGeom prst="roundRect">
            <a:avLst>
              <a:gd name="adj" fmla="val 1758"/>
            </a:avLst>
          </a:prstGeom>
          <a:solidFill>
            <a:srgbClr val="FFFFFF"/>
          </a:solidFill>
          <a:ln w="12700">
            <a:solidFill>
              <a:srgbClr val="DDE5F2"/>
            </a:solidFill>
            <a:prstDash val="solid"/>
          </a:ln>
          <a:effectLst>
            <a:outerShdw sx="100000" sy="100000" kx="0" ky="0" algn="bl" rotWithShape="0" blurRad="152400" dist="50800" dir="5400000">
              <a:srgbClr val="111726">
                <a:alpha val="10000"/>
              </a:srgbClr>
            </a:outerShdw>
          </a:effectLst>
        </p:spPr>
      </p:sp>
      <p:pic>
        <p:nvPicPr>
          <p:cNvPr id="5" name="Image 0" descr="C:\Users\sohnj\Project\260627 AI Planner 클로드\docs\images\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874520"/>
            <a:ext cx="6583680" cy="4572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772400" y="1984248"/>
            <a:ext cx="310896" cy="310896"/>
          </a:xfrm>
          <a:prstGeom prst="ellipse">
            <a:avLst/>
          </a:prstGeom>
          <a:solidFill>
            <a:srgbClr val="E8F0FE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53233" y="2065081"/>
            <a:ext cx="149230" cy="14923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211312" y="19202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6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마감·제출이 달력에</a:t>
            </a:r>
            <a:endParaRPr lang="en-US" sz="1600" dirty="0"/>
          </a:p>
        </p:txBody>
      </p:sp>
      <p:sp>
        <p:nvSpPr>
          <p:cNvPr id="9" name="Text 5"/>
          <p:cNvSpPr/>
          <p:nvPr/>
        </p:nvSpPr>
        <p:spPr>
          <a:xfrm>
            <a:off x="8211312" y="2286000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급한 날이 먼저 눈에 띄고, 연가·출장은 셀 색으로 구분됩니다.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7772400" y="3355848"/>
            <a:ext cx="310896" cy="310896"/>
          </a:xfrm>
          <a:prstGeom prst="ellipse">
            <a:avLst/>
          </a:prstGeom>
          <a:solidFill>
            <a:srgbClr val="E8F0FE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3233" y="3436681"/>
            <a:ext cx="149230" cy="14923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8211312" y="32918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6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날짜를 누르면</a:t>
            </a:r>
            <a:endParaRPr lang="en-US" sz="1600" dirty="0"/>
          </a:p>
        </p:txBody>
      </p:sp>
      <p:sp>
        <p:nvSpPr>
          <p:cNvPr id="13" name="Text 8"/>
          <p:cNvSpPr/>
          <p:nvPr/>
        </p:nvSpPr>
        <p:spPr>
          <a:xfrm>
            <a:off x="8211312" y="3657600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날 할 일만 목록으로. 상태 배지가 곧 필터입니다.</a:t>
            </a:r>
            <a:endParaRPr lang="en-US" sz="1250" dirty="0"/>
          </a:p>
        </p:txBody>
      </p:sp>
      <p:sp>
        <p:nvSpPr>
          <p:cNvPr id="14" name="Shape 9"/>
          <p:cNvSpPr/>
          <p:nvPr/>
        </p:nvSpPr>
        <p:spPr>
          <a:xfrm>
            <a:off x="7772400" y="4727448"/>
            <a:ext cx="310896" cy="310896"/>
          </a:xfrm>
          <a:prstGeom prst="ellipse">
            <a:avLst/>
          </a:prstGeom>
          <a:solidFill>
            <a:srgbClr val="E8F0FE"/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53233" y="4808281"/>
            <a:ext cx="149230" cy="14923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8211312" y="46634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6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끝낸 일은 흐리게</a:t>
            </a:r>
            <a:endParaRPr lang="en-US" sz="1600" dirty="0"/>
          </a:p>
        </p:txBody>
      </p:sp>
      <p:sp>
        <p:nvSpPr>
          <p:cNvPr id="17" name="Text 11"/>
          <p:cNvSpPr/>
          <p:nvPr/>
        </p:nvSpPr>
        <p:spPr>
          <a:xfrm>
            <a:off x="8211312" y="5029200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완료·취소는 가라앉고 남은 일만 또렷하게 남습니다.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2377440"/>
            <a:ext cx="6400800" cy="6400800"/>
          </a:xfrm>
          <a:prstGeom prst="ellipse">
            <a:avLst/>
          </a:prstGeom>
          <a:solidFill>
            <a:srgbClr val="2563EB">
              <a:alpha val="1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777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FB4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안심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105156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전부 내 컴퓨터에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822960" y="2148840"/>
            <a:ext cx="3383280" cy="1965960"/>
          </a:xfrm>
          <a:prstGeom prst="roundRect">
            <a:avLst>
              <a:gd name="adj" fmla="val 5116"/>
            </a:avLst>
          </a:prstGeom>
          <a:solidFill>
            <a:srgbClr val="1B2334"/>
          </a:solidFill>
          <a:ln/>
        </p:spPr>
      </p:sp>
      <p:sp>
        <p:nvSpPr>
          <p:cNvPr id="6" name="Shape 4"/>
          <p:cNvSpPr/>
          <p:nvPr/>
        </p:nvSpPr>
        <p:spPr>
          <a:xfrm>
            <a:off x="1188720" y="2468880"/>
            <a:ext cx="502920" cy="502920"/>
          </a:xfrm>
          <a:prstGeom prst="ellipse">
            <a:avLst/>
          </a:prstGeom>
          <a:solidFill>
            <a:srgbClr val="2563EB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19479" y="2599639"/>
            <a:ext cx="241402" cy="24140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88720" y="3127248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계정도 서버도 없이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188720" y="349300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7D4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데이터는 브라우저 안(IndexedDB)에 저장됩니다.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663440" y="2148840"/>
            <a:ext cx="3383280" cy="1965960"/>
          </a:xfrm>
          <a:prstGeom prst="roundRect">
            <a:avLst>
              <a:gd name="adj" fmla="val 5116"/>
            </a:avLst>
          </a:prstGeom>
          <a:solidFill>
            <a:srgbClr val="1B2334"/>
          </a:solidFill>
          <a:ln/>
        </p:spPr>
      </p:sp>
      <p:sp>
        <p:nvSpPr>
          <p:cNvPr id="11" name="Shape 8"/>
          <p:cNvSpPr/>
          <p:nvPr/>
        </p:nvSpPr>
        <p:spPr>
          <a:xfrm>
            <a:off x="5029200" y="2468880"/>
            <a:ext cx="502920" cy="502920"/>
          </a:xfrm>
          <a:prstGeom prst="ellipse">
            <a:avLst/>
          </a:prstGeom>
          <a:solidFill>
            <a:srgbClr val="2563EB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9959" y="2599639"/>
            <a:ext cx="241402" cy="24140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029200" y="3127248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꺼져 있어도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5029200" y="349300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7D4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달력·노트·프로젝트는 그대로 동작합니다.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8503920" y="2148840"/>
            <a:ext cx="3383280" cy="1965960"/>
          </a:xfrm>
          <a:prstGeom prst="roundRect">
            <a:avLst>
              <a:gd name="adj" fmla="val 5116"/>
            </a:avLst>
          </a:prstGeom>
          <a:solidFill>
            <a:srgbClr val="1B2334"/>
          </a:solidFill>
          <a:ln/>
        </p:spPr>
      </p:sp>
      <p:sp>
        <p:nvSpPr>
          <p:cNvPr id="16" name="Shape 12"/>
          <p:cNvSpPr/>
          <p:nvPr/>
        </p:nvSpPr>
        <p:spPr>
          <a:xfrm>
            <a:off x="8869680" y="2468880"/>
            <a:ext cx="502920" cy="502920"/>
          </a:xfrm>
          <a:prstGeom prst="ellipse">
            <a:avLst/>
          </a:prstGeom>
          <a:solidFill>
            <a:srgbClr val="2563EB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00439" y="259963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869680" y="3127248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백업은 파일 하나</a:t>
            </a:r>
            <a:endParaRPr lang="en-US" sz="1600" dirty="0"/>
          </a:p>
        </p:txBody>
      </p:sp>
      <p:sp>
        <p:nvSpPr>
          <p:cNvPr id="19" name="Text 14"/>
          <p:cNvSpPr/>
          <p:nvPr/>
        </p:nvSpPr>
        <p:spPr>
          <a:xfrm>
            <a:off x="8869680" y="349300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7D4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JSON으로 내보내고 되돌립니다.</a:t>
            </a:r>
            <a:endParaRPr lang="en-US" sz="1200" dirty="0"/>
          </a:p>
        </p:txBody>
      </p:sp>
      <p:sp>
        <p:nvSpPr>
          <p:cNvPr id="20" name="Text 15"/>
          <p:cNvSpPr/>
          <p:nvPr/>
        </p:nvSpPr>
        <p:spPr>
          <a:xfrm>
            <a:off x="822960" y="4572000"/>
            <a:ext cx="10607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쏟아지는 쪽지는 </a:t>
            </a:r>
            <a:pPr indent="0" marL="0">
              <a:lnSpc>
                <a:spcPct val="130000"/>
              </a:lnSpc>
              <a:buNone/>
            </a:pPr>
            <a:r>
              <a:rPr lang="en-US" sz="2600" b="1" dirty="0">
                <a:solidFill>
                  <a:srgbClr val="8FB4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정리되고</a:t>
            </a:r>
            <a:pPr indent="0" marL="0">
              <a:lnSpc>
                <a:spcPct val="130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마감은 </a:t>
            </a:r>
            <a:pPr indent="0" marL="0">
              <a:lnSpc>
                <a:spcPct val="130000"/>
              </a:lnSpc>
              <a:buNone/>
            </a:pPr>
            <a:r>
              <a:rPr lang="en-US" sz="2600" b="1" dirty="0">
                <a:solidFill>
                  <a:srgbClr val="8FB4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먼저 보이고</a:t>
            </a:r>
            <a:pPr indent="0" marL="0">
              <a:lnSpc>
                <a:spcPct val="130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</a:t>
            </a:r>
            <a:endParaRPr lang="en-US" sz="2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하루의 끝에는 </a:t>
            </a:r>
            <a:pPr indent="0" marL="0">
              <a:lnSpc>
                <a:spcPct val="130000"/>
              </a:lnSpc>
              <a:buNone/>
            </a:pPr>
            <a:r>
              <a:rPr lang="en-US" sz="2600" b="1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고생했다고 말해 준다</a:t>
            </a:r>
            <a:pPr indent="0" marL="0">
              <a:lnSpc>
                <a:spcPct val="130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2600" dirty="0"/>
          </a:p>
        </p:txBody>
      </p:sp>
      <p:sp>
        <p:nvSpPr>
          <p:cNvPr id="21" name="Text 16"/>
          <p:cNvSpPr/>
          <p:nvPr/>
        </p:nvSpPr>
        <p:spPr>
          <a:xfrm>
            <a:off x="822960" y="6035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E93B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플래나이(PLANAI)  ·  github.com/sohnjun96/AI-Planner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플래나이(PLANAI) 소개</dc:title>
  <dc:subject>PptxGenJS Presentation</dc:subject>
  <dc:creator>플래나이(PLANAI)</dc:creator>
  <cp:lastModifiedBy>플래나이(PLANAI)</cp:lastModifiedBy>
  <cp:revision>1</cp:revision>
  <dcterms:created xsi:type="dcterms:W3CDTF">2026-07-25T14:39:11Z</dcterms:created>
  <dcterms:modified xsi:type="dcterms:W3CDTF">2026-07-25T14:39:11Z</dcterms:modified>
</cp:coreProperties>
</file>